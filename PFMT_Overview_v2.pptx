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C233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00C89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SCOPED APPLICATION  ·  x_pfmt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7" name="Image 0" descr="/sessions/friendly-peaceful-cerf/mnt/outputs/icons/piggy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206700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974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PFMT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Finance Money Tracker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" y="4251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money-tracking and budgeting app, built natively on the ServiceNow platform — Service Portal UI, Flow Designer automation, and a scoped REST API.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5806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60441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dev275144.service-now.com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69080" y="5806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069080" y="60441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x_pfmt · v1.0.0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315200" y="5806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15200" y="60441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complete · ready to build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tracking, where the rest of work already happens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personal finance apps live outside the tools people already use. PFMT flips that: it's a fully self-contained budgeting app built as a ServiceNow scoped application — so tracking spend, staying inside budget, and hitting savings goals happens inside the same platform's Service Portal, mobile app, and automation engine.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C23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108960"/>
            <a:ext cx="658368" cy="658368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7" name="Image 0" descr="/sessions/friendly-peaceful-cerf/mnt/outputs/icons/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708" y="3194548"/>
            <a:ext cx="487192" cy="487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9319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Dollar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60120" y="4361688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expenses, income, and transfers in seconds, with a live net-balance view across accounts.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78892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C23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3108960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2" name="Image 1" descr="/sessions/friendly-peaceful-cerf/mnt/outputs/icons/chart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748" y="3194548"/>
            <a:ext cx="487192" cy="487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9319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Inside Budget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09160" y="4361688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limits with automatic spend rollups and threshold alerts before you overspend.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78892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C2333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3108960"/>
            <a:ext cx="658368" cy="65836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7" name="Image 2" descr="/sessions/friendly-peaceful-cerf/mnt/outputs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788" y="3194548"/>
            <a:ext cx="487192" cy="487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9319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Savings Goals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58200" y="4361688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Target-based goals track progress automatically and nudge you when you fall behind schedule.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features that cover the full daily money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12064" cy="512064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6" name="Image 0" descr="/sessions/friendly-peaceful-cerf/mnt/outputs/icons/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80" y="1922800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49631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80720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net balance with income vs. expense breakdown, right on the portal home page.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52544" y="16002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1856232"/>
            <a:ext cx="512064" cy="512064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1" name="Image 1" descr="/sessions/friendly-peaceful-cerf/mnt/outputs/icons/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144" y="1922800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8576" y="249631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Capture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08576" y="280720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expense, income, or transfer entry with smart category and account defaults.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65008" y="16002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856232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/sessions/friendly-peaceful-cerf/mnt/outputs/icons/chart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608" y="1922800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49631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Tracking &amp; Alerts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21040" y="280720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limits with live progress bars and automatic alerts at an 80% threshold.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7947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050792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1" name="Image 3" descr="/sessions/friendly-peaceful-cerf/mnt/outputs/icons/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80" y="4117360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69087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Goals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500176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Target-and-date goals with automatic progress %, achievement badges, and behind-schedule nudges.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52544" y="37947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8576" y="4050792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4" descr="/sessions/friendly-peaceful-cerf/mnt/outputs/icons/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144" y="4117360"/>
            <a:ext cx="378927" cy="3789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08576" y="469087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Transactions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08576" y="500176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scheduled flow auto-posts recurring bills and income on their due date.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65008" y="37947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050792"/>
            <a:ext cx="512064" cy="512064"/>
          </a:xfrm>
          <a:prstGeom prst="ellipse">
            <a:avLst/>
          </a:prstGeom>
          <a:solidFill>
            <a:srgbClr val="FF5B5B"/>
          </a:solidFill>
          <a:ln/>
        </p:spPr>
      </p:sp>
      <p:pic>
        <p:nvPicPr>
          <p:cNvPr id="31" name="Image 5" descr="/sessions/friendly-peaceful-cerf/mnt/outputs/icons/chart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7608" y="4117360"/>
            <a:ext cx="378927" cy="3789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69087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Insights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21040" y="5001768"/>
            <a:ext cx="3026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Spend-by-category, savings rate, average daily spend, and over-budget flags at a glance.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spend and see your balance in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35124" y="1737360"/>
            <a:ext cx="2130552" cy="4297680"/>
          </a:xfrm>
          <a:prstGeom prst="roundRect">
            <a:avLst>
              <a:gd name="adj" fmla="val 900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127000" dist="50800" dir="5400000">
              <a:srgbClr val="1C2333">
                <a:alpha val="2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44734" y="1806123"/>
            <a:ext cx="511332" cy="60168"/>
          </a:xfrm>
          <a:prstGeom prst="roundRect">
            <a:avLst>
              <a:gd name="adj" fmla="val 50000"/>
            </a:avLst>
          </a:prstGeom>
          <a:solidFill>
            <a:srgbClr val="05070A"/>
          </a:solidFill>
          <a:ln/>
        </p:spPr>
      </p:sp>
      <p:sp>
        <p:nvSpPr>
          <p:cNvPr id="6" name="Shape 4"/>
          <p:cNvSpPr/>
          <p:nvPr/>
        </p:nvSpPr>
        <p:spPr>
          <a:xfrm>
            <a:off x="2230999" y="1952244"/>
            <a:ext cx="1938802" cy="3962461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366715" y="2051306"/>
            <a:ext cx="1163281" cy="237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2366715" y="2289053"/>
            <a:ext cx="1163281" cy="178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Wed, 10 Jun 2026</a:t>
            </a:r>
            <a:endParaRPr lang="en-US" sz="610" dirty="0"/>
          </a:p>
        </p:txBody>
      </p:sp>
      <p:sp>
        <p:nvSpPr>
          <p:cNvPr id="9" name="Shape 7"/>
          <p:cNvSpPr/>
          <p:nvPr/>
        </p:nvSpPr>
        <p:spPr>
          <a:xfrm>
            <a:off x="3820817" y="2031493"/>
            <a:ext cx="232656" cy="297185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10" name="Image 0" descr="/sessions/friendly-peaceful-cerf/mnt/outputs/icons/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5103" y="2102818"/>
            <a:ext cx="124083" cy="15849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347327" y="2467364"/>
            <a:ext cx="1706146" cy="931178"/>
          </a:xfrm>
          <a:prstGeom prst="roundRect">
            <a:avLst>
              <a:gd name="adj" fmla="val 9369"/>
            </a:avLst>
          </a:prstGeom>
          <a:solidFill>
            <a:srgbClr val="0D1117"/>
          </a:solidFill>
          <a:ln/>
        </p:spPr>
      </p:sp>
      <p:sp>
        <p:nvSpPr>
          <p:cNvPr id="12" name="Text 9"/>
          <p:cNvSpPr/>
          <p:nvPr/>
        </p:nvSpPr>
        <p:spPr>
          <a:xfrm>
            <a:off x="2463655" y="2566425"/>
            <a:ext cx="1357162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3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BALANCE</a:t>
            </a:r>
            <a:endParaRPr lang="en-US" sz="530" dirty="0"/>
          </a:p>
        </p:txBody>
      </p:sp>
      <p:sp>
        <p:nvSpPr>
          <p:cNvPr id="13" name="Text 10"/>
          <p:cNvSpPr/>
          <p:nvPr/>
        </p:nvSpPr>
        <p:spPr>
          <a:xfrm>
            <a:off x="2463655" y="2744736"/>
            <a:ext cx="1473490" cy="35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$4,820.50</a:t>
            </a:r>
            <a:endParaRPr lang="en-US" sz="1710" dirty="0"/>
          </a:p>
        </p:txBody>
      </p:sp>
      <p:sp>
        <p:nvSpPr>
          <p:cNvPr id="14" name="Text 11"/>
          <p:cNvSpPr/>
          <p:nvPr/>
        </p:nvSpPr>
        <p:spPr>
          <a:xfrm>
            <a:off x="2463655" y="3160795"/>
            <a:ext cx="678581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" dirty="0">
                <a:solidFill>
                  <a:srgbClr val="7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470" dirty="0"/>
          </a:p>
        </p:txBody>
      </p:sp>
      <p:sp>
        <p:nvSpPr>
          <p:cNvPr id="15" name="Text 12"/>
          <p:cNvSpPr/>
          <p:nvPr/>
        </p:nvSpPr>
        <p:spPr>
          <a:xfrm>
            <a:off x="2463655" y="3279668"/>
            <a:ext cx="678581" cy="178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+$6,200.00</a:t>
            </a:r>
            <a:endParaRPr lang="en-US" sz="770" dirty="0"/>
          </a:p>
        </p:txBody>
      </p:sp>
      <p:sp>
        <p:nvSpPr>
          <p:cNvPr id="16" name="Text 13"/>
          <p:cNvSpPr/>
          <p:nvPr/>
        </p:nvSpPr>
        <p:spPr>
          <a:xfrm>
            <a:off x="3239176" y="3160795"/>
            <a:ext cx="678581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" dirty="0">
                <a:solidFill>
                  <a:srgbClr val="7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470" dirty="0"/>
          </a:p>
        </p:txBody>
      </p:sp>
      <p:sp>
        <p:nvSpPr>
          <p:cNvPr id="17" name="Text 14"/>
          <p:cNvSpPr/>
          <p:nvPr/>
        </p:nvSpPr>
        <p:spPr>
          <a:xfrm>
            <a:off x="3239176" y="3279668"/>
            <a:ext cx="678581" cy="178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-$1,379.50</a:t>
            </a:r>
            <a:endParaRPr lang="en-US" sz="770" dirty="0"/>
          </a:p>
        </p:txBody>
      </p:sp>
      <p:sp>
        <p:nvSpPr>
          <p:cNvPr id="18" name="Shape 15"/>
          <p:cNvSpPr/>
          <p:nvPr/>
        </p:nvSpPr>
        <p:spPr>
          <a:xfrm>
            <a:off x="2347327" y="3517416"/>
            <a:ext cx="548681" cy="229823"/>
          </a:xfrm>
          <a:prstGeom prst="roundRect">
            <a:avLst>
              <a:gd name="adj" fmla="val 92797"/>
            </a:avLst>
          </a:prstGeom>
          <a:solidFill>
            <a:srgbClr val="E6FBF5"/>
          </a:solidFill>
          <a:ln/>
        </p:spPr>
      </p:sp>
      <p:sp>
        <p:nvSpPr>
          <p:cNvPr id="19" name="Text 16"/>
          <p:cNvSpPr/>
          <p:nvPr/>
        </p:nvSpPr>
        <p:spPr>
          <a:xfrm>
            <a:off x="2347327" y="3517416"/>
            <a:ext cx="548681" cy="22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Income</a:t>
            </a:r>
            <a:endParaRPr lang="en-US" sz="570" dirty="0"/>
          </a:p>
        </p:txBody>
      </p:sp>
      <p:sp>
        <p:nvSpPr>
          <p:cNvPr id="20" name="Shape 17"/>
          <p:cNvSpPr/>
          <p:nvPr/>
        </p:nvSpPr>
        <p:spPr>
          <a:xfrm>
            <a:off x="2934784" y="3517416"/>
            <a:ext cx="548681" cy="229823"/>
          </a:xfrm>
          <a:prstGeom prst="roundRect">
            <a:avLst>
              <a:gd name="adj" fmla="val 92797"/>
            </a:avLst>
          </a:prstGeom>
          <a:solidFill>
            <a:srgbClr val="FFF0F0"/>
          </a:solidFill>
          <a:ln/>
        </p:spPr>
      </p:sp>
      <p:sp>
        <p:nvSpPr>
          <p:cNvPr id="21" name="Text 18"/>
          <p:cNvSpPr/>
          <p:nvPr/>
        </p:nvSpPr>
        <p:spPr>
          <a:xfrm>
            <a:off x="2934784" y="3517416"/>
            <a:ext cx="548681" cy="22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Expense</a:t>
            </a:r>
            <a:endParaRPr lang="en-US" sz="570" dirty="0"/>
          </a:p>
        </p:txBody>
      </p:sp>
      <p:sp>
        <p:nvSpPr>
          <p:cNvPr id="22" name="Shape 19"/>
          <p:cNvSpPr/>
          <p:nvPr/>
        </p:nvSpPr>
        <p:spPr>
          <a:xfrm>
            <a:off x="3522241" y="3517416"/>
            <a:ext cx="548681" cy="229823"/>
          </a:xfrm>
          <a:prstGeom prst="roundRect">
            <a:avLst>
              <a:gd name="adj" fmla="val 92797"/>
            </a:avLst>
          </a:prstGeom>
          <a:solidFill>
            <a:srgbClr val="EFF6FF"/>
          </a:solidFill>
          <a:ln/>
        </p:spPr>
      </p:sp>
      <p:sp>
        <p:nvSpPr>
          <p:cNvPr id="23" name="Text 20"/>
          <p:cNvSpPr/>
          <p:nvPr/>
        </p:nvSpPr>
        <p:spPr>
          <a:xfrm>
            <a:off x="3522241" y="3517416"/>
            <a:ext cx="548681" cy="22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Transfer</a:t>
            </a:r>
            <a:endParaRPr lang="en-US" sz="570" dirty="0"/>
          </a:p>
        </p:txBody>
      </p:sp>
      <p:sp>
        <p:nvSpPr>
          <p:cNvPr id="24" name="Text 21"/>
          <p:cNvSpPr/>
          <p:nvPr/>
        </p:nvSpPr>
        <p:spPr>
          <a:xfrm>
            <a:off x="2366715" y="3874038"/>
            <a:ext cx="969401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2347327" y="4072161"/>
            <a:ext cx="213268" cy="297185"/>
          </a:xfrm>
          <a:prstGeom prst="ellipse">
            <a:avLst/>
          </a:prstGeom>
          <a:solidFill>
            <a:srgbClr val="E6FBF5"/>
          </a:solidFill>
          <a:ln/>
        </p:spPr>
      </p:sp>
      <p:pic>
        <p:nvPicPr>
          <p:cNvPr id="26" name="Image 1" descr="/sessions/friendly-peaceful-cerf/mnt/outputs/icons/coffee_d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225" y="4139522"/>
            <a:ext cx="145410" cy="16642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618759" y="4072161"/>
            <a:ext cx="872461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</a:t>
            </a:r>
            <a:endParaRPr lang="en-US" sz="730" dirty="0"/>
          </a:p>
        </p:txBody>
      </p:sp>
      <p:sp>
        <p:nvSpPr>
          <p:cNvPr id="28" name="Text 24"/>
          <p:cNvSpPr/>
          <p:nvPr/>
        </p:nvSpPr>
        <p:spPr>
          <a:xfrm>
            <a:off x="2618759" y="4210847"/>
            <a:ext cx="872461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Drink</a:t>
            </a:r>
            <a:endParaRPr lang="en-US" sz="570" dirty="0"/>
          </a:p>
        </p:txBody>
      </p:sp>
      <p:sp>
        <p:nvSpPr>
          <p:cNvPr id="29" name="Text 25"/>
          <p:cNvSpPr/>
          <p:nvPr/>
        </p:nvSpPr>
        <p:spPr>
          <a:xfrm>
            <a:off x="3433056" y="4119710"/>
            <a:ext cx="620417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F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-$6.80</a:t>
            </a:r>
            <a:endParaRPr lang="en-US" sz="730" dirty="0"/>
          </a:p>
        </p:txBody>
      </p:sp>
      <p:sp>
        <p:nvSpPr>
          <p:cNvPr id="30" name="Shape 26"/>
          <p:cNvSpPr/>
          <p:nvPr/>
        </p:nvSpPr>
        <p:spPr>
          <a:xfrm>
            <a:off x="2347327" y="4460482"/>
            <a:ext cx="213268" cy="29718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1" name="Image 2" descr="/sessions/friendly-peaceful-cerf/mnt/outputs/icons/train_d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225" y="4527844"/>
            <a:ext cx="145410" cy="166423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2618759" y="4460482"/>
            <a:ext cx="872461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 Top-Up</a:t>
            </a:r>
            <a:endParaRPr lang="en-US" sz="730" dirty="0"/>
          </a:p>
        </p:txBody>
      </p:sp>
      <p:sp>
        <p:nvSpPr>
          <p:cNvPr id="33" name="Text 28"/>
          <p:cNvSpPr/>
          <p:nvPr/>
        </p:nvSpPr>
        <p:spPr>
          <a:xfrm>
            <a:off x="2618759" y="4599168"/>
            <a:ext cx="872461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570" dirty="0"/>
          </a:p>
        </p:txBody>
      </p:sp>
      <p:sp>
        <p:nvSpPr>
          <p:cNvPr id="34" name="Text 29"/>
          <p:cNvSpPr/>
          <p:nvPr/>
        </p:nvSpPr>
        <p:spPr>
          <a:xfrm>
            <a:off x="3433056" y="4508031"/>
            <a:ext cx="620417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F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-$20.00</a:t>
            </a:r>
            <a:endParaRPr lang="en-US" sz="730" dirty="0"/>
          </a:p>
        </p:txBody>
      </p:sp>
      <p:sp>
        <p:nvSpPr>
          <p:cNvPr id="35" name="Shape 30"/>
          <p:cNvSpPr/>
          <p:nvPr/>
        </p:nvSpPr>
        <p:spPr>
          <a:xfrm>
            <a:off x="2347327" y="4848803"/>
            <a:ext cx="213268" cy="297185"/>
          </a:xfrm>
          <a:prstGeom prst="ellipse">
            <a:avLst/>
          </a:prstGeom>
          <a:solidFill>
            <a:srgbClr val="E6FBF5"/>
          </a:solidFill>
          <a:ln/>
        </p:spPr>
      </p:sp>
      <p:pic>
        <p:nvPicPr>
          <p:cNvPr id="36" name="Image 3" descr="/sessions/friendly-peaceful-cerf/mnt/outputs/icons/briefcase_d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225" y="4916165"/>
            <a:ext cx="145410" cy="166423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2618759" y="4848803"/>
            <a:ext cx="872461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Credit</a:t>
            </a:r>
            <a:endParaRPr lang="en-US" sz="730" dirty="0"/>
          </a:p>
        </p:txBody>
      </p:sp>
      <p:sp>
        <p:nvSpPr>
          <p:cNvPr id="38" name="Text 32"/>
          <p:cNvSpPr/>
          <p:nvPr/>
        </p:nvSpPr>
        <p:spPr>
          <a:xfrm>
            <a:off x="2618759" y="4987489"/>
            <a:ext cx="872461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570" dirty="0"/>
          </a:p>
        </p:txBody>
      </p:sp>
      <p:sp>
        <p:nvSpPr>
          <p:cNvPr id="39" name="Text 33"/>
          <p:cNvSpPr/>
          <p:nvPr/>
        </p:nvSpPr>
        <p:spPr>
          <a:xfrm>
            <a:off x="3433056" y="4896352"/>
            <a:ext cx="620417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+$6,200.00</a:t>
            </a:r>
            <a:endParaRPr lang="en-US" sz="730" dirty="0"/>
          </a:p>
        </p:txBody>
      </p:sp>
      <p:sp>
        <p:nvSpPr>
          <p:cNvPr id="40" name="Shape 34"/>
          <p:cNvSpPr/>
          <p:nvPr/>
        </p:nvSpPr>
        <p:spPr>
          <a:xfrm>
            <a:off x="2347327" y="5237124"/>
            <a:ext cx="213268" cy="297185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41" name="Image 4" descr="/sessions/friendly-peaceful-cerf/mnt/outputs/icons/cart_d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2225" y="5304486"/>
            <a:ext cx="145410" cy="166423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2618759" y="5237124"/>
            <a:ext cx="872461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FairPrice</a:t>
            </a:r>
            <a:endParaRPr lang="en-US" sz="730" dirty="0"/>
          </a:p>
        </p:txBody>
      </p:sp>
      <p:sp>
        <p:nvSpPr>
          <p:cNvPr id="43" name="Text 36"/>
          <p:cNvSpPr/>
          <p:nvPr/>
        </p:nvSpPr>
        <p:spPr>
          <a:xfrm>
            <a:off x="2618759" y="5375810"/>
            <a:ext cx="872461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</a:t>
            </a:r>
            <a:endParaRPr lang="en-US" sz="570" dirty="0"/>
          </a:p>
        </p:txBody>
      </p:sp>
      <p:sp>
        <p:nvSpPr>
          <p:cNvPr id="44" name="Text 37"/>
          <p:cNvSpPr/>
          <p:nvPr/>
        </p:nvSpPr>
        <p:spPr>
          <a:xfrm>
            <a:off x="3433056" y="5284674"/>
            <a:ext cx="620417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F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-$84.30</a:t>
            </a:r>
            <a:endParaRPr lang="en-US" sz="730" dirty="0"/>
          </a:p>
        </p:txBody>
      </p:sp>
      <p:sp>
        <p:nvSpPr>
          <p:cNvPr id="45" name="Text 38"/>
          <p:cNvSpPr/>
          <p:nvPr/>
        </p:nvSpPr>
        <p:spPr>
          <a:xfrm>
            <a:off x="1952244" y="6172200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46" name="Text 39"/>
          <p:cNvSpPr/>
          <p:nvPr/>
        </p:nvSpPr>
        <p:spPr>
          <a:xfrm>
            <a:off x="1952244" y="6464808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balance, income vs. expense, recent activity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7923276" y="1737360"/>
            <a:ext cx="2130552" cy="4297680"/>
          </a:xfrm>
          <a:prstGeom prst="roundRect">
            <a:avLst>
              <a:gd name="adj" fmla="val 900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127000" dist="50800" dir="5400000">
              <a:srgbClr val="1C2333">
                <a:alpha val="24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8732886" y="1806123"/>
            <a:ext cx="511332" cy="60168"/>
          </a:xfrm>
          <a:prstGeom prst="roundRect">
            <a:avLst>
              <a:gd name="adj" fmla="val 50000"/>
            </a:avLst>
          </a:prstGeom>
          <a:solidFill>
            <a:srgbClr val="05070A"/>
          </a:solidFill>
          <a:ln/>
        </p:spPr>
      </p:sp>
      <p:sp>
        <p:nvSpPr>
          <p:cNvPr id="49" name="Shape 42"/>
          <p:cNvSpPr/>
          <p:nvPr/>
        </p:nvSpPr>
        <p:spPr>
          <a:xfrm>
            <a:off x="8019151" y="1952244"/>
            <a:ext cx="1938802" cy="3962461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</p:spPr>
      </p:sp>
      <p:sp>
        <p:nvSpPr>
          <p:cNvPr id="50" name="Text 43"/>
          <p:cNvSpPr/>
          <p:nvPr/>
        </p:nvSpPr>
        <p:spPr>
          <a:xfrm>
            <a:off x="8154867" y="2071118"/>
            <a:ext cx="1551042" cy="237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Add Expense</a:t>
            </a:r>
            <a:endParaRPr lang="en-US" sz="1020" dirty="0"/>
          </a:p>
        </p:txBody>
      </p:sp>
      <p:sp>
        <p:nvSpPr>
          <p:cNvPr id="51" name="Shape 44"/>
          <p:cNvSpPr/>
          <p:nvPr/>
        </p:nvSpPr>
        <p:spPr>
          <a:xfrm>
            <a:off x="8135479" y="2407927"/>
            <a:ext cx="1706146" cy="237748"/>
          </a:xfrm>
          <a:prstGeom prst="roundRect">
            <a:avLst>
              <a:gd name="adj" fmla="val 244646"/>
            </a:avLst>
          </a:prstGeom>
          <a:solidFill>
            <a:srgbClr val="F7F9FC"/>
          </a:solidFill>
          <a:ln/>
        </p:spPr>
      </p:sp>
      <p:sp>
        <p:nvSpPr>
          <p:cNvPr id="52" name="Shape 45"/>
          <p:cNvSpPr/>
          <p:nvPr/>
        </p:nvSpPr>
        <p:spPr>
          <a:xfrm>
            <a:off x="8154867" y="2435664"/>
            <a:ext cx="529293" cy="182273"/>
          </a:xfrm>
          <a:prstGeom prst="roundRect">
            <a:avLst>
              <a:gd name="adj" fmla="val 234010"/>
            </a:avLst>
          </a:prstGeom>
          <a:solidFill>
            <a:srgbClr val="FFFFFF"/>
          </a:solidFill>
          <a:ln/>
        </p:spPr>
      </p:sp>
      <p:sp>
        <p:nvSpPr>
          <p:cNvPr id="53" name="Text 46"/>
          <p:cNvSpPr/>
          <p:nvPr/>
        </p:nvSpPr>
        <p:spPr>
          <a:xfrm>
            <a:off x="8135479" y="2435664"/>
            <a:ext cx="568651" cy="182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F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</a:t>
            </a:r>
            <a:endParaRPr lang="en-US" sz="610" dirty="0"/>
          </a:p>
        </p:txBody>
      </p:sp>
      <p:sp>
        <p:nvSpPr>
          <p:cNvPr id="54" name="Text 47"/>
          <p:cNvSpPr/>
          <p:nvPr/>
        </p:nvSpPr>
        <p:spPr>
          <a:xfrm>
            <a:off x="8704130" y="2435664"/>
            <a:ext cx="568651" cy="182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610" dirty="0"/>
          </a:p>
        </p:txBody>
      </p:sp>
      <p:sp>
        <p:nvSpPr>
          <p:cNvPr id="55" name="Text 48"/>
          <p:cNvSpPr/>
          <p:nvPr/>
        </p:nvSpPr>
        <p:spPr>
          <a:xfrm>
            <a:off x="9272780" y="2435664"/>
            <a:ext cx="568651" cy="182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610" dirty="0"/>
          </a:p>
        </p:txBody>
      </p:sp>
      <p:sp>
        <p:nvSpPr>
          <p:cNvPr id="56" name="Shape 49"/>
          <p:cNvSpPr/>
          <p:nvPr/>
        </p:nvSpPr>
        <p:spPr>
          <a:xfrm>
            <a:off x="8135479" y="2724924"/>
            <a:ext cx="1706146" cy="614181"/>
          </a:xfrm>
          <a:prstGeom prst="roundRect">
            <a:avLst>
              <a:gd name="adj" fmla="val 25254"/>
            </a:avLst>
          </a:prstGeom>
          <a:solidFill>
            <a:srgbClr val="0D1117"/>
          </a:solidFill>
          <a:ln/>
        </p:spPr>
      </p:sp>
      <p:sp>
        <p:nvSpPr>
          <p:cNvPr id="57" name="Text 50"/>
          <p:cNvSpPr/>
          <p:nvPr/>
        </p:nvSpPr>
        <p:spPr>
          <a:xfrm>
            <a:off x="8135479" y="2823985"/>
            <a:ext cx="1706146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(SGD)</a:t>
            </a:r>
            <a:endParaRPr lang="en-US" sz="530" dirty="0"/>
          </a:p>
        </p:txBody>
      </p:sp>
      <p:sp>
        <p:nvSpPr>
          <p:cNvPr id="58" name="Text 51"/>
          <p:cNvSpPr/>
          <p:nvPr/>
        </p:nvSpPr>
        <p:spPr>
          <a:xfrm>
            <a:off x="8135479" y="2982484"/>
            <a:ext cx="1706146" cy="29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$84.30</a:t>
            </a:r>
            <a:endParaRPr lang="en-US" sz="1630" dirty="0"/>
          </a:p>
        </p:txBody>
      </p:sp>
      <p:sp>
        <p:nvSpPr>
          <p:cNvPr id="59" name="Shape 52"/>
          <p:cNvSpPr/>
          <p:nvPr/>
        </p:nvSpPr>
        <p:spPr>
          <a:xfrm>
            <a:off x="8135479" y="3477791"/>
            <a:ext cx="1706146" cy="348697"/>
          </a:xfrm>
          <a:prstGeom prst="roundRect">
            <a:avLst>
              <a:gd name="adj" fmla="val 66722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8232419" y="3525341"/>
            <a:ext cx="1512266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470" dirty="0"/>
          </a:p>
        </p:txBody>
      </p:sp>
      <p:sp>
        <p:nvSpPr>
          <p:cNvPr id="61" name="Text 54"/>
          <p:cNvSpPr/>
          <p:nvPr/>
        </p:nvSpPr>
        <p:spPr>
          <a:xfrm>
            <a:off x="8232419" y="3644215"/>
            <a:ext cx="1512266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FairPrice Supermarket</a:t>
            </a:r>
            <a:endParaRPr lang="en-US" sz="690" dirty="0"/>
          </a:p>
        </p:txBody>
      </p:sp>
      <p:sp>
        <p:nvSpPr>
          <p:cNvPr id="62" name="Shape 55"/>
          <p:cNvSpPr/>
          <p:nvPr/>
        </p:nvSpPr>
        <p:spPr>
          <a:xfrm>
            <a:off x="8135479" y="3893850"/>
            <a:ext cx="1706146" cy="348697"/>
          </a:xfrm>
          <a:prstGeom prst="roundRect">
            <a:avLst>
              <a:gd name="adj" fmla="val 66722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8232419" y="3941399"/>
            <a:ext cx="1512266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470" dirty="0"/>
          </a:p>
        </p:txBody>
      </p:sp>
      <p:sp>
        <p:nvSpPr>
          <p:cNvPr id="64" name="Text 57"/>
          <p:cNvSpPr/>
          <p:nvPr/>
        </p:nvSpPr>
        <p:spPr>
          <a:xfrm>
            <a:off x="8232419" y="4060273"/>
            <a:ext cx="1512266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</a:t>
            </a:r>
            <a:endParaRPr lang="en-US" sz="690" dirty="0"/>
          </a:p>
        </p:txBody>
      </p:sp>
      <p:sp>
        <p:nvSpPr>
          <p:cNvPr id="65" name="Shape 58"/>
          <p:cNvSpPr/>
          <p:nvPr/>
        </p:nvSpPr>
        <p:spPr>
          <a:xfrm>
            <a:off x="8135479" y="4309908"/>
            <a:ext cx="1706146" cy="348697"/>
          </a:xfrm>
          <a:prstGeom prst="roundRect">
            <a:avLst>
              <a:gd name="adj" fmla="val 66722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8232419" y="4357458"/>
            <a:ext cx="1512266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470" dirty="0"/>
          </a:p>
        </p:txBody>
      </p:sp>
      <p:sp>
        <p:nvSpPr>
          <p:cNvPr id="67" name="Text 60"/>
          <p:cNvSpPr/>
          <p:nvPr/>
        </p:nvSpPr>
        <p:spPr>
          <a:xfrm>
            <a:off x="8232419" y="4476332"/>
            <a:ext cx="1512266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Checking</a:t>
            </a:r>
            <a:endParaRPr lang="en-US" sz="690" dirty="0"/>
          </a:p>
        </p:txBody>
      </p:sp>
      <p:sp>
        <p:nvSpPr>
          <p:cNvPr id="68" name="Shape 61"/>
          <p:cNvSpPr/>
          <p:nvPr/>
        </p:nvSpPr>
        <p:spPr>
          <a:xfrm>
            <a:off x="8135479" y="4725967"/>
            <a:ext cx="1706146" cy="348697"/>
          </a:xfrm>
          <a:prstGeom prst="roundRect">
            <a:avLst>
              <a:gd name="adj" fmla="val 66722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8232419" y="4773516"/>
            <a:ext cx="1512266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470" dirty="0"/>
          </a:p>
        </p:txBody>
      </p:sp>
      <p:sp>
        <p:nvSpPr>
          <p:cNvPr id="70" name="Text 63"/>
          <p:cNvSpPr/>
          <p:nvPr/>
        </p:nvSpPr>
        <p:spPr>
          <a:xfrm>
            <a:off x="8232419" y="4892390"/>
            <a:ext cx="1512266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Jun 2026</a:t>
            </a:r>
            <a:endParaRPr lang="en-US" sz="690" dirty="0"/>
          </a:p>
        </p:txBody>
      </p:sp>
      <p:sp>
        <p:nvSpPr>
          <p:cNvPr id="71" name="Shape 64"/>
          <p:cNvSpPr/>
          <p:nvPr/>
        </p:nvSpPr>
        <p:spPr>
          <a:xfrm>
            <a:off x="8135479" y="5181650"/>
            <a:ext cx="1706146" cy="297185"/>
          </a:xfrm>
          <a:prstGeom prst="roundRect">
            <a:avLst>
              <a:gd name="adj" fmla="val 91334"/>
            </a:avLst>
          </a:prstGeom>
          <a:solidFill>
            <a:srgbClr val="FF5B5B"/>
          </a:solidFill>
          <a:ln/>
        </p:spPr>
      </p:sp>
      <p:sp>
        <p:nvSpPr>
          <p:cNvPr id="72" name="Text 65"/>
          <p:cNvSpPr/>
          <p:nvPr/>
        </p:nvSpPr>
        <p:spPr>
          <a:xfrm>
            <a:off x="8135479" y="5181650"/>
            <a:ext cx="1706146" cy="29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Expense</a:t>
            </a:r>
            <a:endParaRPr lang="en-US" sz="770" dirty="0"/>
          </a:p>
        </p:txBody>
      </p:sp>
      <p:sp>
        <p:nvSpPr>
          <p:cNvPr id="73" name="Text 66"/>
          <p:cNvSpPr/>
          <p:nvPr/>
        </p:nvSpPr>
        <p:spPr>
          <a:xfrm>
            <a:off x="7740396" y="6172200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Transaction</a:t>
            </a:r>
            <a:endParaRPr lang="en-US" sz="1350" dirty="0"/>
          </a:p>
        </p:txBody>
      </p:sp>
      <p:sp>
        <p:nvSpPr>
          <p:cNvPr id="74" name="Text 67"/>
          <p:cNvSpPr/>
          <p:nvPr/>
        </p:nvSpPr>
        <p:spPr>
          <a:xfrm>
            <a:off x="7740396" y="6464808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Expense, income, or transfer in a few taps</a:t>
            </a:r>
            <a:endParaRPr lang="en-US" sz="950" dirty="0"/>
          </a:p>
        </p:txBody>
      </p:sp>
      <p:sp>
        <p:nvSpPr>
          <p:cNvPr id="75" name="Text 68"/>
          <p:cNvSpPr/>
          <p:nvPr/>
        </p:nvSpPr>
        <p:spPr>
          <a:xfrm>
            <a:off x="4539996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050" dirty="0"/>
          </a:p>
        </p:txBody>
      </p:sp>
      <p:sp>
        <p:nvSpPr>
          <p:cNvPr id="76" name="Shape 69"/>
          <p:cNvSpPr/>
          <p:nvPr/>
        </p:nvSpPr>
        <p:spPr>
          <a:xfrm>
            <a:off x="4539996" y="2194560"/>
            <a:ext cx="457200" cy="45720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77" name="Image 5" descr="/sessions/friendly-peaceful-cerf/mnt/outputs/icons/wall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2253996"/>
            <a:ext cx="338328" cy="338328"/>
          </a:xfrm>
          <a:prstGeom prst="rect">
            <a:avLst/>
          </a:prstGeom>
        </p:spPr>
      </p:pic>
      <p:sp>
        <p:nvSpPr>
          <p:cNvPr id="78" name="Text 70"/>
          <p:cNvSpPr/>
          <p:nvPr/>
        </p:nvSpPr>
        <p:spPr>
          <a:xfrm>
            <a:off x="5134356" y="21671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net balance</a:t>
            </a:r>
            <a:endParaRPr lang="en-US" sz="1300" dirty="0"/>
          </a:p>
        </p:txBody>
      </p:sp>
      <p:sp>
        <p:nvSpPr>
          <p:cNvPr id="79" name="Text 71"/>
          <p:cNvSpPr/>
          <p:nvPr/>
        </p:nvSpPr>
        <p:spPr>
          <a:xfrm>
            <a:off x="5134356" y="24505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instantly as you log income and expenses.</a:t>
            </a:r>
            <a:endParaRPr lang="en-US" sz="1000" dirty="0"/>
          </a:p>
        </p:txBody>
      </p:sp>
      <p:sp>
        <p:nvSpPr>
          <p:cNvPr id="80" name="Shape 72"/>
          <p:cNvSpPr/>
          <p:nvPr/>
        </p:nvSpPr>
        <p:spPr>
          <a:xfrm>
            <a:off x="4539996" y="3154680"/>
            <a:ext cx="457200" cy="45720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81" name="Image 6" descr="/sessions/friendly-peaceful-cerf/mnt/outputs/icons/coi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3214116"/>
            <a:ext cx="338328" cy="338328"/>
          </a:xfrm>
          <a:prstGeom prst="rect">
            <a:avLst/>
          </a:prstGeom>
        </p:spPr>
      </p:pic>
      <p:sp>
        <p:nvSpPr>
          <p:cNvPr id="82" name="Text 73"/>
          <p:cNvSpPr/>
          <p:nvPr/>
        </p:nvSpPr>
        <p:spPr>
          <a:xfrm>
            <a:off x="5134356" y="31272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entry</a:t>
            </a:r>
            <a:endParaRPr lang="en-US" sz="1300" dirty="0"/>
          </a:p>
        </p:txBody>
      </p:sp>
      <p:sp>
        <p:nvSpPr>
          <p:cNvPr id="83" name="Text 74"/>
          <p:cNvSpPr/>
          <p:nvPr/>
        </p:nvSpPr>
        <p:spPr>
          <a:xfrm>
            <a:off x="5134356" y="34107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quick actions: expense, income, or transfer.</a:t>
            </a:r>
            <a:endParaRPr lang="en-US" sz="1000" dirty="0"/>
          </a:p>
        </p:txBody>
      </p:sp>
      <p:sp>
        <p:nvSpPr>
          <p:cNvPr id="84" name="Shape 75"/>
          <p:cNvSpPr/>
          <p:nvPr/>
        </p:nvSpPr>
        <p:spPr>
          <a:xfrm>
            <a:off x="4539996" y="41148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85" name="Image 7" descr="/sessions/friendly-peaceful-cerf/mnt/outputs/icons/co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9432" y="4174236"/>
            <a:ext cx="338328" cy="338328"/>
          </a:xfrm>
          <a:prstGeom prst="rect">
            <a:avLst/>
          </a:prstGeom>
        </p:spPr>
      </p:pic>
      <p:sp>
        <p:nvSpPr>
          <p:cNvPr id="86" name="Text 76"/>
          <p:cNvSpPr/>
          <p:nvPr/>
        </p:nvSpPr>
        <p:spPr>
          <a:xfrm>
            <a:off x="5134356" y="40873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defaults</a:t>
            </a:r>
            <a:endParaRPr lang="en-US" sz="1300" dirty="0"/>
          </a:p>
        </p:txBody>
      </p:sp>
      <p:sp>
        <p:nvSpPr>
          <p:cNvPr id="87" name="Text 77"/>
          <p:cNvSpPr/>
          <p:nvPr/>
        </p:nvSpPr>
        <p:spPr>
          <a:xfrm>
            <a:off x="5134356" y="43708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account, and date pre-filled from habit.</a:t>
            </a:r>
            <a:endParaRPr lang="en-US" sz="1000" dirty="0"/>
          </a:p>
        </p:txBody>
      </p:sp>
      <p:sp>
        <p:nvSpPr>
          <p:cNvPr id="88" name="Shape 78"/>
          <p:cNvSpPr/>
          <p:nvPr/>
        </p:nvSpPr>
        <p:spPr>
          <a:xfrm>
            <a:off x="4539996" y="50749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89" name="Image 8" descr="/sessions/friendly-peaceful-cerf/mnt/outputs/icons/chartpi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9432" y="5134356"/>
            <a:ext cx="338328" cy="338328"/>
          </a:xfrm>
          <a:prstGeom prst="rect">
            <a:avLst/>
          </a:prstGeom>
        </p:spPr>
      </p:pic>
      <p:sp>
        <p:nvSpPr>
          <p:cNvPr id="90" name="Text 79"/>
          <p:cNvSpPr/>
          <p:nvPr/>
        </p:nvSpPr>
        <p:spPr>
          <a:xfrm>
            <a:off x="5134356" y="504748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budgets</a:t>
            </a:r>
            <a:endParaRPr lang="en-US" sz="1300" dirty="0"/>
          </a:p>
        </p:txBody>
      </p:sp>
      <p:sp>
        <p:nvSpPr>
          <p:cNvPr id="91" name="Text 80"/>
          <p:cNvSpPr/>
          <p:nvPr/>
        </p:nvSpPr>
        <p:spPr>
          <a:xfrm>
            <a:off x="5134356" y="53309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instantly tagged and counted.</a:t>
            </a:r>
            <a:endParaRPr lang="en-US" sz="1000" dirty="0"/>
          </a:p>
        </p:txBody>
      </p:sp>
      <p:sp>
        <p:nvSpPr>
          <p:cNvPr id="92" name="Text 8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on budget and watch your goals grow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414016" y="1737360"/>
            <a:ext cx="2148840" cy="4297680"/>
          </a:xfrm>
          <a:prstGeom prst="roundRect">
            <a:avLst>
              <a:gd name="adj" fmla="val 900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127000" dist="50800" dir="5400000">
              <a:srgbClr val="1C2333">
                <a:alpha val="2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30575" y="1806123"/>
            <a:ext cx="515722" cy="60168"/>
          </a:xfrm>
          <a:prstGeom prst="roundRect">
            <a:avLst>
              <a:gd name="adj" fmla="val 50000"/>
            </a:avLst>
          </a:prstGeom>
          <a:solidFill>
            <a:srgbClr val="05070A"/>
          </a:solidFill>
          <a:ln/>
        </p:spPr>
      </p:sp>
      <p:sp>
        <p:nvSpPr>
          <p:cNvPr id="6" name="Shape 4"/>
          <p:cNvSpPr/>
          <p:nvPr/>
        </p:nvSpPr>
        <p:spPr>
          <a:xfrm>
            <a:off x="2510714" y="1952244"/>
            <a:ext cx="1955444" cy="3962461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647595" y="2071118"/>
            <a:ext cx="977722" cy="198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2647595" y="2269241"/>
            <a:ext cx="977722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620" dirty="0"/>
          </a:p>
        </p:txBody>
      </p:sp>
      <p:sp>
        <p:nvSpPr>
          <p:cNvPr id="9" name="Shape 7"/>
          <p:cNvSpPr/>
          <p:nvPr/>
        </p:nvSpPr>
        <p:spPr>
          <a:xfrm>
            <a:off x="3918634" y="2090930"/>
            <a:ext cx="430198" cy="217935"/>
          </a:xfrm>
          <a:prstGeom prst="roundRect">
            <a:avLst>
              <a:gd name="adj" fmla="val 179452"/>
            </a:avLst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3918634" y="2090930"/>
            <a:ext cx="430198" cy="21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</a:t>
            </a:r>
            <a:endParaRPr lang="en-US" sz="530" dirty="0"/>
          </a:p>
        </p:txBody>
      </p:sp>
      <p:sp>
        <p:nvSpPr>
          <p:cNvPr id="11" name="Shape 9"/>
          <p:cNvSpPr/>
          <p:nvPr/>
        </p:nvSpPr>
        <p:spPr>
          <a:xfrm>
            <a:off x="2628040" y="2506989"/>
            <a:ext cx="1720791" cy="614181"/>
          </a:xfrm>
          <a:prstGeom prst="roundRect">
            <a:avLst>
              <a:gd name="adj" fmla="val 25471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5813" y="2586238"/>
            <a:ext cx="977722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3488436" y="2586238"/>
            <a:ext cx="782178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$1,379 / $2,500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2725813" y="2784361"/>
            <a:ext cx="1525247" cy="87174"/>
          </a:xfrm>
          <a:prstGeom prst="roundRect">
            <a:avLst>
              <a:gd name="adj" fmla="val 1121575"/>
            </a:avLst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25813" y="2784361"/>
            <a:ext cx="838886" cy="87174"/>
          </a:xfrm>
          <a:prstGeom prst="roundRect">
            <a:avLst>
              <a:gd name="adj" fmla="val 1121575"/>
            </a:avLst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2725813" y="2923047"/>
            <a:ext cx="1525247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used · $1,121 remaining</a:t>
            </a:r>
            <a:endParaRPr lang="en-US" sz="560" dirty="0"/>
          </a:p>
        </p:txBody>
      </p:sp>
      <p:sp>
        <p:nvSpPr>
          <p:cNvPr id="17" name="Shape 15"/>
          <p:cNvSpPr/>
          <p:nvPr/>
        </p:nvSpPr>
        <p:spPr>
          <a:xfrm>
            <a:off x="2628040" y="3259856"/>
            <a:ext cx="1720791" cy="534932"/>
          </a:xfrm>
          <a:prstGeom prst="roundRect">
            <a:avLst>
              <a:gd name="adj" fmla="val 365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8" name="Image 0" descr="/sessions/friendly-peaceful-cerf/mnt/outputs/icons/coffee_d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5813" y="3339105"/>
            <a:ext cx="146658" cy="17831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940912" y="3319293"/>
            <a:ext cx="782178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Drink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2940912" y="3450054"/>
            <a:ext cx="782178" cy="12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 / $500</a:t>
            </a:r>
            <a:endParaRPr lang="en-US" sz="530" dirty="0"/>
          </a:p>
        </p:txBody>
      </p:sp>
      <p:sp>
        <p:nvSpPr>
          <p:cNvPr id="21" name="Text 18"/>
          <p:cNvSpPr/>
          <p:nvPr/>
        </p:nvSpPr>
        <p:spPr>
          <a:xfrm>
            <a:off x="3742644" y="3339105"/>
            <a:ext cx="391089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620" dirty="0"/>
          </a:p>
        </p:txBody>
      </p:sp>
      <p:sp>
        <p:nvSpPr>
          <p:cNvPr id="22" name="Shape 19"/>
          <p:cNvSpPr/>
          <p:nvPr/>
        </p:nvSpPr>
        <p:spPr>
          <a:xfrm>
            <a:off x="2725813" y="3616478"/>
            <a:ext cx="1525247" cy="71324"/>
          </a:xfrm>
          <a:prstGeom prst="roundRect">
            <a:avLst>
              <a:gd name="adj" fmla="val 1370818"/>
            </a:avLst>
          </a:prstGeom>
          <a:solidFill>
            <a:srgbClr val="E2E8F0"/>
          </a:solidFill>
          <a:ln/>
        </p:spPr>
      </p:sp>
      <p:sp>
        <p:nvSpPr>
          <p:cNvPr id="23" name="Shape 20"/>
          <p:cNvSpPr/>
          <p:nvPr/>
        </p:nvSpPr>
        <p:spPr>
          <a:xfrm>
            <a:off x="2725813" y="3616478"/>
            <a:ext cx="1159187" cy="71324"/>
          </a:xfrm>
          <a:prstGeom prst="roundRect">
            <a:avLst>
              <a:gd name="adj" fmla="val 1370818"/>
            </a:avLst>
          </a:prstGeom>
          <a:solidFill>
            <a:srgbClr val="F59E0B"/>
          </a:solidFill>
          <a:ln/>
        </p:spPr>
      </p:sp>
      <p:sp>
        <p:nvSpPr>
          <p:cNvPr id="24" name="Shape 21"/>
          <p:cNvSpPr/>
          <p:nvPr/>
        </p:nvSpPr>
        <p:spPr>
          <a:xfrm>
            <a:off x="2628040" y="3913662"/>
            <a:ext cx="1720791" cy="534932"/>
          </a:xfrm>
          <a:prstGeom prst="roundRect">
            <a:avLst>
              <a:gd name="adj" fmla="val 365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5" name="Image 1" descr="/sessions/friendly-peaceful-cerf/mnt/outputs/icons/train_d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813" y="3992911"/>
            <a:ext cx="146658" cy="17831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940912" y="3973099"/>
            <a:ext cx="782178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620" dirty="0"/>
          </a:p>
        </p:txBody>
      </p:sp>
      <p:sp>
        <p:nvSpPr>
          <p:cNvPr id="27" name="Text 23"/>
          <p:cNvSpPr/>
          <p:nvPr/>
        </p:nvSpPr>
        <p:spPr>
          <a:xfrm>
            <a:off x="2940912" y="4103860"/>
            <a:ext cx="782178" cy="12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 / $300</a:t>
            </a:r>
            <a:endParaRPr lang="en-US" sz="530" dirty="0"/>
          </a:p>
        </p:txBody>
      </p:sp>
      <p:sp>
        <p:nvSpPr>
          <p:cNvPr id="28" name="Text 24"/>
          <p:cNvSpPr/>
          <p:nvPr/>
        </p:nvSpPr>
        <p:spPr>
          <a:xfrm>
            <a:off x="3742644" y="3992911"/>
            <a:ext cx="391089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620" dirty="0"/>
          </a:p>
        </p:txBody>
      </p:sp>
      <p:sp>
        <p:nvSpPr>
          <p:cNvPr id="29" name="Shape 25"/>
          <p:cNvSpPr/>
          <p:nvPr/>
        </p:nvSpPr>
        <p:spPr>
          <a:xfrm>
            <a:off x="2725813" y="4270284"/>
            <a:ext cx="1525247" cy="71324"/>
          </a:xfrm>
          <a:prstGeom prst="roundRect">
            <a:avLst>
              <a:gd name="adj" fmla="val 1370818"/>
            </a:avLst>
          </a:prstGeom>
          <a:solidFill>
            <a:srgbClr val="E2E8F0"/>
          </a:solidFill>
          <a:ln/>
        </p:spPr>
      </p:sp>
      <p:sp>
        <p:nvSpPr>
          <p:cNvPr id="30" name="Shape 26"/>
          <p:cNvSpPr/>
          <p:nvPr/>
        </p:nvSpPr>
        <p:spPr>
          <a:xfrm>
            <a:off x="2725813" y="4270284"/>
            <a:ext cx="610099" cy="71324"/>
          </a:xfrm>
          <a:prstGeom prst="roundRect">
            <a:avLst>
              <a:gd name="adj" fmla="val 1370818"/>
            </a:avLst>
          </a:prstGeom>
          <a:solidFill>
            <a:srgbClr val="00C896"/>
          </a:solidFill>
          <a:ln/>
        </p:spPr>
      </p:sp>
      <p:sp>
        <p:nvSpPr>
          <p:cNvPr id="31" name="Shape 27"/>
          <p:cNvSpPr/>
          <p:nvPr/>
        </p:nvSpPr>
        <p:spPr>
          <a:xfrm>
            <a:off x="2628040" y="4567468"/>
            <a:ext cx="1720791" cy="534932"/>
          </a:xfrm>
          <a:prstGeom prst="roundRect">
            <a:avLst>
              <a:gd name="adj" fmla="val 365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2" name="Image 2" descr="/sessions/friendly-peaceful-cerf/mnt/outputs/icons/bag_d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813" y="4646717"/>
            <a:ext cx="146658" cy="178311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2940912" y="4626905"/>
            <a:ext cx="782178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620" dirty="0"/>
          </a:p>
        </p:txBody>
      </p:sp>
      <p:sp>
        <p:nvSpPr>
          <p:cNvPr id="34" name="Text 29"/>
          <p:cNvSpPr/>
          <p:nvPr/>
        </p:nvSpPr>
        <p:spPr>
          <a:xfrm>
            <a:off x="2940912" y="4757666"/>
            <a:ext cx="782178" cy="12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$510 / $400</a:t>
            </a:r>
            <a:endParaRPr lang="en-US" sz="530" dirty="0"/>
          </a:p>
        </p:txBody>
      </p:sp>
      <p:sp>
        <p:nvSpPr>
          <p:cNvPr id="35" name="Text 30"/>
          <p:cNvSpPr/>
          <p:nvPr/>
        </p:nvSpPr>
        <p:spPr>
          <a:xfrm>
            <a:off x="3742644" y="4646717"/>
            <a:ext cx="391089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F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127%</a:t>
            </a:r>
            <a:endParaRPr lang="en-US" sz="620" dirty="0"/>
          </a:p>
        </p:txBody>
      </p:sp>
      <p:sp>
        <p:nvSpPr>
          <p:cNvPr id="36" name="Shape 31"/>
          <p:cNvSpPr/>
          <p:nvPr/>
        </p:nvSpPr>
        <p:spPr>
          <a:xfrm>
            <a:off x="2725813" y="4924090"/>
            <a:ext cx="1525247" cy="71324"/>
          </a:xfrm>
          <a:prstGeom prst="roundRect">
            <a:avLst>
              <a:gd name="adj" fmla="val 1370818"/>
            </a:avLst>
          </a:prstGeom>
          <a:solidFill>
            <a:srgbClr val="E2E8F0"/>
          </a:solidFill>
          <a:ln/>
        </p:spPr>
      </p:sp>
      <p:sp>
        <p:nvSpPr>
          <p:cNvPr id="37" name="Shape 32"/>
          <p:cNvSpPr/>
          <p:nvPr/>
        </p:nvSpPr>
        <p:spPr>
          <a:xfrm>
            <a:off x="2725813" y="4924090"/>
            <a:ext cx="1525247" cy="71324"/>
          </a:xfrm>
          <a:prstGeom prst="roundRect">
            <a:avLst>
              <a:gd name="adj" fmla="val 1370818"/>
            </a:avLst>
          </a:prstGeom>
          <a:solidFill>
            <a:srgbClr val="FF5B5B"/>
          </a:solidFill>
          <a:ln/>
        </p:spPr>
      </p:sp>
      <p:sp>
        <p:nvSpPr>
          <p:cNvPr id="38" name="Text 33"/>
          <p:cNvSpPr/>
          <p:nvPr/>
        </p:nvSpPr>
        <p:spPr>
          <a:xfrm>
            <a:off x="2276856" y="6172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Tracker</a:t>
            </a:r>
            <a:endParaRPr lang="en-US" sz="1350" dirty="0"/>
          </a:p>
        </p:txBody>
      </p:sp>
      <p:sp>
        <p:nvSpPr>
          <p:cNvPr id="39" name="Text 34"/>
          <p:cNvSpPr/>
          <p:nvPr/>
        </p:nvSpPr>
        <p:spPr>
          <a:xfrm>
            <a:off x="2276856" y="6464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limits with live progress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5020056" y="1737360"/>
            <a:ext cx="2148840" cy="4297680"/>
          </a:xfrm>
          <a:prstGeom prst="roundRect">
            <a:avLst>
              <a:gd name="adj" fmla="val 900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127000" dist="50800" dir="5400000">
              <a:srgbClr val="1C2333">
                <a:alpha val="24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5836615" y="1806123"/>
            <a:ext cx="515722" cy="60168"/>
          </a:xfrm>
          <a:prstGeom prst="roundRect">
            <a:avLst>
              <a:gd name="adj" fmla="val 50000"/>
            </a:avLst>
          </a:prstGeom>
          <a:solidFill>
            <a:srgbClr val="05070A"/>
          </a:solidFill>
          <a:ln/>
        </p:spPr>
      </p:sp>
      <p:sp>
        <p:nvSpPr>
          <p:cNvPr id="42" name="Shape 37"/>
          <p:cNvSpPr/>
          <p:nvPr/>
        </p:nvSpPr>
        <p:spPr>
          <a:xfrm>
            <a:off x="5116754" y="1952244"/>
            <a:ext cx="1955444" cy="3962461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</p:spPr>
      </p:sp>
      <p:sp>
        <p:nvSpPr>
          <p:cNvPr id="43" name="Text 38"/>
          <p:cNvSpPr/>
          <p:nvPr/>
        </p:nvSpPr>
        <p:spPr>
          <a:xfrm>
            <a:off x="5253635" y="2071118"/>
            <a:ext cx="1075494" cy="198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Goals</a:t>
            </a:r>
            <a:endParaRPr lang="en-US" sz="1030" dirty="0"/>
          </a:p>
        </p:txBody>
      </p:sp>
      <p:sp>
        <p:nvSpPr>
          <p:cNvPr id="44" name="Text 39"/>
          <p:cNvSpPr/>
          <p:nvPr/>
        </p:nvSpPr>
        <p:spPr>
          <a:xfrm>
            <a:off x="5253635" y="2269241"/>
            <a:ext cx="1075494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Active Goals</a:t>
            </a:r>
            <a:endParaRPr lang="en-US" sz="620" dirty="0"/>
          </a:p>
        </p:txBody>
      </p:sp>
      <p:sp>
        <p:nvSpPr>
          <p:cNvPr id="45" name="Shape 40"/>
          <p:cNvSpPr/>
          <p:nvPr/>
        </p:nvSpPr>
        <p:spPr>
          <a:xfrm>
            <a:off x="6524674" y="2090930"/>
            <a:ext cx="430198" cy="217935"/>
          </a:xfrm>
          <a:prstGeom prst="roundRect">
            <a:avLst>
              <a:gd name="adj" fmla="val 179452"/>
            </a:avLst>
          </a:prstGeom>
          <a:solidFill>
            <a:srgbClr val="00C896"/>
          </a:solidFill>
          <a:ln/>
        </p:spPr>
      </p:sp>
      <p:sp>
        <p:nvSpPr>
          <p:cNvPr id="46" name="Text 41"/>
          <p:cNvSpPr/>
          <p:nvPr/>
        </p:nvSpPr>
        <p:spPr>
          <a:xfrm>
            <a:off x="6524674" y="2090930"/>
            <a:ext cx="430198" cy="21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Goal</a:t>
            </a:r>
            <a:endParaRPr lang="en-US" sz="530" dirty="0"/>
          </a:p>
        </p:txBody>
      </p:sp>
      <p:sp>
        <p:nvSpPr>
          <p:cNvPr id="47" name="Shape 42"/>
          <p:cNvSpPr/>
          <p:nvPr/>
        </p:nvSpPr>
        <p:spPr>
          <a:xfrm>
            <a:off x="5234080" y="2506989"/>
            <a:ext cx="1720791" cy="792492"/>
          </a:xfrm>
          <a:prstGeom prst="roundRect">
            <a:avLst>
              <a:gd name="adj" fmla="val 17272"/>
            </a:avLst>
          </a:prstGeom>
          <a:solidFill>
            <a:srgbClr val="0D1117"/>
          </a:solidFill>
          <a:ln/>
        </p:spPr>
      </p:sp>
      <p:pic>
        <p:nvPicPr>
          <p:cNvPr id="48" name="Image 3" descr="/sessions/friendly-peaceful-cerf/mnt/outputs/icons/pla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853" y="2606050"/>
            <a:ext cx="175990" cy="198123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5331853" y="2744736"/>
            <a:ext cx="879950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Trip</a:t>
            </a:r>
            <a:endParaRPr lang="en-US" sz="700" dirty="0"/>
          </a:p>
        </p:txBody>
      </p:sp>
      <p:sp>
        <p:nvSpPr>
          <p:cNvPr id="50" name="Text 44"/>
          <p:cNvSpPr/>
          <p:nvPr/>
        </p:nvSpPr>
        <p:spPr>
          <a:xfrm>
            <a:off x="5331853" y="2875497"/>
            <a:ext cx="879950" cy="12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Dec 2026</a:t>
            </a:r>
            <a:endParaRPr lang="en-US" sz="520" dirty="0"/>
          </a:p>
        </p:txBody>
      </p:sp>
      <p:sp>
        <p:nvSpPr>
          <p:cNvPr id="51" name="Text 45"/>
          <p:cNvSpPr/>
          <p:nvPr/>
        </p:nvSpPr>
        <p:spPr>
          <a:xfrm>
            <a:off x="6192248" y="2586238"/>
            <a:ext cx="762623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860" dirty="0"/>
          </a:p>
        </p:txBody>
      </p:sp>
      <p:sp>
        <p:nvSpPr>
          <p:cNvPr id="52" name="Text 46"/>
          <p:cNvSpPr/>
          <p:nvPr/>
        </p:nvSpPr>
        <p:spPr>
          <a:xfrm>
            <a:off x="6192248" y="2744736"/>
            <a:ext cx="762623" cy="12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$5,000</a:t>
            </a:r>
            <a:endParaRPr lang="en-US" sz="520" dirty="0"/>
          </a:p>
        </p:txBody>
      </p:sp>
      <p:sp>
        <p:nvSpPr>
          <p:cNvPr id="53" name="Shape 47"/>
          <p:cNvSpPr/>
          <p:nvPr/>
        </p:nvSpPr>
        <p:spPr>
          <a:xfrm>
            <a:off x="5331853" y="3002296"/>
            <a:ext cx="1525247" cy="79249"/>
          </a:xfrm>
          <a:prstGeom prst="roundRect">
            <a:avLst>
              <a:gd name="adj" fmla="val 1233734"/>
            </a:avLst>
          </a:prstGeom>
          <a:solidFill>
            <a:srgbClr val="2A3348"/>
          </a:solidFill>
          <a:ln/>
        </p:spPr>
      </p:sp>
      <p:sp>
        <p:nvSpPr>
          <p:cNvPr id="54" name="Shape 48"/>
          <p:cNvSpPr/>
          <p:nvPr/>
        </p:nvSpPr>
        <p:spPr>
          <a:xfrm>
            <a:off x="5331853" y="3002296"/>
            <a:ext cx="976158" cy="79249"/>
          </a:xfrm>
          <a:prstGeom prst="roundRect">
            <a:avLst>
              <a:gd name="adj" fmla="val 1233734"/>
            </a:avLst>
          </a:prstGeom>
          <a:solidFill>
            <a:srgbClr val="00C896"/>
          </a:solidFill>
          <a:ln/>
        </p:spPr>
      </p:sp>
      <p:sp>
        <p:nvSpPr>
          <p:cNvPr id="55" name="Text 49"/>
          <p:cNvSpPr/>
          <p:nvPr/>
        </p:nvSpPr>
        <p:spPr>
          <a:xfrm>
            <a:off x="5331853" y="3121170"/>
            <a:ext cx="1525247" cy="12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· $1,800 to go</a:t>
            </a:r>
            <a:endParaRPr lang="en-US" sz="520" dirty="0"/>
          </a:p>
        </p:txBody>
      </p:sp>
      <p:sp>
        <p:nvSpPr>
          <p:cNvPr id="56" name="Shape 50"/>
          <p:cNvSpPr/>
          <p:nvPr/>
        </p:nvSpPr>
        <p:spPr>
          <a:xfrm>
            <a:off x="5234080" y="3438167"/>
            <a:ext cx="1720791" cy="614181"/>
          </a:xfrm>
          <a:prstGeom prst="roundRect">
            <a:avLst>
              <a:gd name="adj" fmla="val 254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7" name="Image 4" descr="/sessions/friendly-peaceful-cerf/mnt/outputs/icons/home_d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1853" y="3489679"/>
            <a:ext cx="121238" cy="134724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5488288" y="3485716"/>
            <a:ext cx="703960" cy="12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Down Payment</a:t>
            </a:r>
            <a:endParaRPr lang="en-US" sz="600" dirty="0"/>
          </a:p>
        </p:txBody>
      </p:sp>
      <p:sp>
        <p:nvSpPr>
          <p:cNvPr id="59" name="Text 52"/>
          <p:cNvSpPr/>
          <p:nvPr/>
        </p:nvSpPr>
        <p:spPr>
          <a:xfrm>
            <a:off x="5331853" y="3667990"/>
            <a:ext cx="860396" cy="110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Jun 2028</a:t>
            </a:r>
            <a:endParaRPr lang="en-US" sz="490" dirty="0"/>
          </a:p>
        </p:txBody>
      </p:sp>
      <p:sp>
        <p:nvSpPr>
          <p:cNvPr id="60" name="Text 53"/>
          <p:cNvSpPr/>
          <p:nvPr/>
        </p:nvSpPr>
        <p:spPr>
          <a:xfrm>
            <a:off x="6192248" y="3517416"/>
            <a:ext cx="762623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$18,500</a:t>
            </a:r>
            <a:endParaRPr lang="en-US" sz="700" dirty="0"/>
          </a:p>
        </p:txBody>
      </p:sp>
      <p:sp>
        <p:nvSpPr>
          <p:cNvPr id="61" name="Text 54"/>
          <p:cNvSpPr/>
          <p:nvPr/>
        </p:nvSpPr>
        <p:spPr>
          <a:xfrm>
            <a:off x="6192248" y="3644215"/>
            <a:ext cx="762623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$80,000</a:t>
            </a:r>
            <a:endParaRPr lang="en-US" sz="490" dirty="0"/>
          </a:p>
        </p:txBody>
      </p:sp>
      <p:sp>
        <p:nvSpPr>
          <p:cNvPr id="62" name="Shape 55"/>
          <p:cNvSpPr/>
          <p:nvPr/>
        </p:nvSpPr>
        <p:spPr>
          <a:xfrm>
            <a:off x="5331853" y="3893850"/>
            <a:ext cx="1525247" cy="71324"/>
          </a:xfrm>
          <a:prstGeom prst="roundRect">
            <a:avLst>
              <a:gd name="adj" fmla="val 1370818"/>
            </a:avLst>
          </a:prstGeom>
          <a:solidFill>
            <a:srgbClr val="E2E8F0"/>
          </a:solidFill>
          <a:ln/>
        </p:spPr>
      </p:sp>
      <p:sp>
        <p:nvSpPr>
          <p:cNvPr id="63" name="Shape 56"/>
          <p:cNvSpPr/>
          <p:nvPr/>
        </p:nvSpPr>
        <p:spPr>
          <a:xfrm>
            <a:off x="5331853" y="3893850"/>
            <a:ext cx="350807" cy="71324"/>
          </a:xfrm>
          <a:prstGeom prst="roundRect">
            <a:avLst>
              <a:gd name="adj" fmla="val 1370818"/>
            </a:avLst>
          </a:prstGeom>
          <a:solidFill>
            <a:srgbClr val="3B82F6"/>
          </a:solidFill>
          <a:ln/>
        </p:spPr>
      </p:sp>
      <p:sp>
        <p:nvSpPr>
          <p:cNvPr id="64" name="Shape 57"/>
          <p:cNvSpPr/>
          <p:nvPr/>
        </p:nvSpPr>
        <p:spPr>
          <a:xfrm>
            <a:off x="5234080" y="4171222"/>
            <a:ext cx="1720791" cy="614181"/>
          </a:xfrm>
          <a:prstGeom prst="roundRect">
            <a:avLst>
              <a:gd name="adj" fmla="val 254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5" name="Image 5" descr="/sessions/friendly-peaceful-cerf/mnt/outputs/icons/alert_d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1853" y="4222734"/>
            <a:ext cx="121238" cy="134724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5488288" y="4218772"/>
            <a:ext cx="703960" cy="12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</a:t>
            </a:r>
            <a:endParaRPr lang="en-US" sz="600" dirty="0"/>
          </a:p>
        </p:txBody>
      </p:sp>
      <p:sp>
        <p:nvSpPr>
          <p:cNvPr id="67" name="Text 59"/>
          <p:cNvSpPr/>
          <p:nvPr/>
        </p:nvSpPr>
        <p:spPr>
          <a:xfrm>
            <a:off x="5331853" y="4401045"/>
            <a:ext cx="860396" cy="110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Dec 2026</a:t>
            </a:r>
            <a:endParaRPr lang="en-US" sz="490" dirty="0"/>
          </a:p>
        </p:txBody>
      </p:sp>
      <p:sp>
        <p:nvSpPr>
          <p:cNvPr id="68" name="Text 60"/>
          <p:cNvSpPr/>
          <p:nvPr/>
        </p:nvSpPr>
        <p:spPr>
          <a:xfrm>
            <a:off x="6192248" y="4250471"/>
            <a:ext cx="762623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$9,800</a:t>
            </a:r>
            <a:endParaRPr lang="en-US" sz="700" dirty="0"/>
          </a:p>
        </p:txBody>
      </p:sp>
      <p:sp>
        <p:nvSpPr>
          <p:cNvPr id="69" name="Text 61"/>
          <p:cNvSpPr/>
          <p:nvPr/>
        </p:nvSpPr>
        <p:spPr>
          <a:xfrm>
            <a:off x="6192248" y="4377270"/>
            <a:ext cx="762623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$10,000</a:t>
            </a:r>
            <a:endParaRPr lang="en-US" sz="490" dirty="0"/>
          </a:p>
        </p:txBody>
      </p:sp>
      <p:sp>
        <p:nvSpPr>
          <p:cNvPr id="70" name="Shape 62"/>
          <p:cNvSpPr/>
          <p:nvPr/>
        </p:nvSpPr>
        <p:spPr>
          <a:xfrm>
            <a:off x="5331853" y="4626905"/>
            <a:ext cx="1525247" cy="71324"/>
          </a:xfrm>
          <a:prstGeom prst="roundRect">
            <a:avLst>
              <a:gd name="adj" fmla="val 1370818"/>
            </a:avLst>
          </a:prstGeom>
          <a:solidFill>
            <a:srgbClr val="E2E8F0"/>
          </a:solidFill>
          <a:ln/>
        </p:spPr>
      </p:sp>
      <p:sp>
        <p:nvSpPr>
          <p:cNvPr id="71" name="Shape 63"/>
          <p:cNvSpPr/>
          <p:nvPr/>
        </p:nvSpPr>
        <p:spPr>
          <a:xfrm>
            <a:off x="5331853" y="4626905"/>
            <a:ext cx="1494742" cy="71324"/>
          </a:xfrm>
          <a:prstGeom prst="roundRect">
            <a:avLst>
              <a:gd name="adj" fmla="val 1370818"/>
            </a:avLst>
          </a:prstGeom>
          <a:solidFill>
            <a:srgbClr val="00A37A"/>
          </a:solidFill>
          <a:ln/>
        </p:spPr>
      </p:sp>
      <p:sp>
        <p:nvSpPr>
          <p:cNvPr id="72" name="Text 64"/>
          <p:cNvSpPr/>
          <p:nvPr/>
        </p:nvSpPr>
        <p:spPr>
          <a:xfrm>
            <a:off x="4882896" y="6172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Goals</a:t>
            </a:r>
            <a:endParaRPr lang="en-US" sz="1350" dirty="0"/>
          </a:p>
        </p:txBody>
      </p:sp>
      <p:sp>
        <p:nvSpPr>
          <p:cNvPr id="73" name="Text 65"/>
          <p:cNvSpPr/>
          <p:nvPr/>
        </p:nvSpPr>
        <p:spPr>
          <a:xfrm>
            <a:off x="4882896" y="6464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Target-based progress and projections</a:t>
            </a:r>
            <a:endParaRPr lang="en-US" sz="950" dirty="0"/>
          </a:p>
        </p:txBody>
      </p:sp>
      <p:sp>
        <p:nvSpPr>
          <p:cNvPr id="74" name="Shape 66"/>
          <p:cNvSpPr/>
          <p:nvPr/>
        </p:nvSpPr>
        <p:spPr>
          <a:xfrm>
            <a:off x="7626096" y="1737360"/>
            <a:ext cx="2148840" cy="4297680"/>
          </a:xfrm>
          <a:prstGeom prst="roundRect">
            <a:avLst>
              <a:gd name="adj" fmla="val 900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127000" dist="50800" dir="5400000">
              <a:srgbClr val="1C2333">
                <a:alpha val="24000"/>
              </a:srgbClr>
            </a:outerShdw>
          </a:effectLst>
        </p:spPr>
      </p:sp>
      <p:sp>
        <p:nvSpPr>
          <p:cNvPr id="75" name="Shape 67"/>
          <p:cNvSpPr/>
          <p:nvPr/>
        </p:nvSpPr>
        <p:spPr>
          <a:xfrm>
            <a:off x="8442655" y="1806123"/>
            <a:ext cx="515722" cy="60168"/>
          </a:xfrm>
          <a:prstGeom prst="roundRect">
            <a:avLst>
              <a:gd name="adj" fmla="val 50000"/>
            </a:avLst>
          </a:prstGeom>
          <a:solidFill>
            <a:srgbClr val="05070A"/>
          </a:solidFill>
          <a:ln/>
        </p:spPr>
      </p:sp>
      <p:sp>
        <p:nvSpPr>
          <p:cNvPr id="76" name="Shape 68"/>
          <p:cNvSpPr/>
          <p:nvPr/>
        </p:nvSpPr>
        <p:spPr>
          <a:xfrm>
            <a:off x="7722794" y="1952244"/>
            <a:ext cx="1955444" cy="3962461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</p:spPr>
      </p:sp>
      <p:sp>
        <p:nvSpPr>
          <p:cNvPr id="77" name="Text 69"/>
          <p:cNvSpPr/>
          <p:nvPr/>
        </p:nvSpPr>
        <p:spPr>
          <a:xfrm>
            <a:off x="7859675" y="2071118"/>
            <a:ext cx="977722" cy="198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070" dirty="0"/>
          </a:p>
        </p:txBody>
      </p:sp>
      <p:sp>
        <p:nvSpPr>
          <p:cNvPr id="78" name="Text 70"/>
          <p:cNvSpPr/>
          <p:nvPr/>
        </p:nvSpPr>
        <p:spPr>
          <a:xfrm>
            <a:off x="7859675" y="2269241"/>
            <a:ext cx="977722" cy="15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days</a:t>
            </a:r>
            <a:endParaRPr lang="en-US" sz="620" dirty="0"/>
          </a:p>
        </p:txBody>
      </p:sp>
      <p:sp>
        <p:nvSpPr>
          <p:cNvPr id="79" name="Shape 71"/>
          <p:cNvSpPr/>
          <p:nvPr/>
        </p:nvSpPr>
        <p:spPr>
          <a:xfrm>
            <a:off x="9130714" y="2090930"/>
            <a:ext cx="430198" cy="217935"/>
          </a:xfrm>
          <a:prstGeom prst="roundRect">
            <a:avLst>
              <a:gd name="adj" fmla="val 179452"/>
            </a:avLst>
          </a:prstGeom>
          <a:solidFill>
            <a:srgbClr val="8B5CF6"/>
          </a:solidFill>
          <a:ln/>
        </p:spPr>
      </p:sp>
      <p:sp>
        <p:nvSpPr>
          <p:cNvPr id="80" name="Text 72"/>
          <p:cNvSpPr/>
          <p:nvPr/>
        </p:nvSpPr>
        <p:spPr>
          <a:xfrm>
            <a:off x="9130714" y="2090930"/>
            <a:ext cx="430198" cy="21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530" dirty="0"/>
          </a:p>
        </p:txBody>
      </p:sp>
      <p:sp>
        <p:nvSpPr>
          <p:cNvPr id="81" name="Shape 73"/>
          <p:cNvSpPr/>
          <p:nvPr/>
        </p:nvSpPr>
        <p:spPr>
          <a:xfrm>
            <a:off x="7840120" y="2506989"/>
            <a:ext cx="1720791" cy="1327424"/>
          </a:xfrm>
          <a:prstGeom prst="roundRect">
            <a:avLst>
              <a:gd name="adj" fmla="val 8839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2" name="Text 74"/>
          <p:cNvSpPr/>
          <p:nvPr/>
        </p:nvSpPr>
        <p:spPr>
          <a:xfrm>
            <a:off x="7937893" y="2586238"/>
            <a:ext cx="1173267" cy="13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Category</a:t>
            </a:r>
            <a:endParaRPr lang="en-US" sz="620" dirty="0"/>
          </a:p>
        </p:txBody>
      </p:sp>
      <p:sp>
        <p:nvSpPr>
          <p:cNvPr id="83" name="Text 75"/>
          <p:cNvSpPr/>
          <p:nvPr/>
        </p:nvSpPr>
        <p:spPr>
          <a:xfrm>
            <a:off x="7937893" y="2764548"/>
            <a:ext cx="977722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3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Drink</a:t>
            </a:r>
            <a:endParaRPr lang="en-US" sz="530" dirty="0"/>
          </a:p>
        </p:txBody>
      </p:sp>
      <p:sp>
        <p:nvSpPr>
          <p:cNvPr id="84" name="Text 76"/>
          <p:cNvSpPr/>
          <p:nvPr/>
        </p:nvSpPr>
        <p:spPr>
          <a:xfrm>
            <a:off x="8896060" y="2764548"/>
            <a:ext cx="567079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3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</a:t>
            </a:r>
            <a:endParaRPr lang="en-US" sz="530" dirty="0"/>
          </a:p>
        </p:txBody>
      </p:sp>
      <p:sp>
        <p:nvSpPr>
          <p:cNvPr id="85" name="Shape 77"/>
          <p:cNvSpPr/>
          <p:nvPr/>
        </p:nvSpPr>
        <p:spPr>
          <a:xfrm>
            <a:off x="7937893" y="2891347"/>
            <a:ext cx="1525247" cy="63399"/>
          </a:xfrm>
          <a:prstGeom prst="roundRect">
            <a:avLst>
              <a:gd name="adj" fmla="val 1542173"/>
            </a:avLst>
          </a:prstGeom>
          <a:solidFill>
            <a:srgbClr val="E2E8F0"/>
          </a:solidFill>
          <a:ln/>
        </p:spPr>
      </p:sp>
      <p:sp>
        <p:nvSpPr>
          <p:cNvPr id="86" name="Shape 78"/>
          <p:cNvSpPr/>
          <p:nvPr/>
        </p:nvSpPr>
        <p:spPr>
          <a:xfrm>
            <a:off x="7937893" y="2891347"/>
            <a:ext cx="1159187" cy="63399"/>
          </a:xfrm>
          <a:prstGeom prst="roundRect">
            <a:avLst>
              <a:gd name="adj" fmla="val 1542173"/>
            </a:avLst>
          </a:prstGeom>
          <a:solidFill>
            <a:srgbClr val="8B5CF6"/>
          </a:solidFill>
          <a:ln/>
        </p:spPr>
      </p:sp>
      <p:sp>
        <p:nvSpPr>
          <p:cNvPr id="87" name="Text 79"/>
          <p:cNvSpPr/>
          <p:nvPr/>
        </p:nvSpPr>
        <p:spPr>
          <a:xfrm>
            <a:off x="7937893" y="2994371"/>
            <a:ext cx="977722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3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530" dirty="0"/>
          </a:p>
        </p:txBody>
      </p:sp>
      <p:sp>
        <p:nvSpPr>
          <p:cNvPr id="88" name="Text 80"/>
          <p:cNvSpPr/>
          <p:nvPr/>
        </p:nvSpPr>
        <p:spPr>
          <a:xfrm>
            <a:off x="8896060" y="2994371"/>
            <a:ext cx="567079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30" b="1" dirty="0">
                <a:solidFill>
                  <a:srgbClr val="F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$510</a:t>
            </a:r>
            <a:endParaRPr lang="en-US" sz="530" dirty="0"/>
          </a:p>
        </p:txBody>
      </p:sp>
      <p:sp>
        <p:nvSpPr>
          <p:cNvPr id="89" name="Shape 81"/>
          <p:cNvSpPr/>
          <p:nvPr/>
        </p:nvSpPr>
        <p:spPr>
          <a:xfrm>
            <a:off x="7937893" y="3121170"/>
            <a:ext cx="1525247" cy="63399"/>
          </a:xfrm>
          <a:prstGeom prst="roundRect">
            <a:avLst>
              <a:gd name="adj" fmla="val 1542173"/>
            </a:avLst>
          </a:prstGeom>
          <a:solidFill>
            <a:srgbClr val="E2E8F0"/>
          </a:solidFill>
          <a:ln/>
        </p:spPr>
      </p:sp>
      <p:sp>
        <p:nvSpPr>
          <p:cNvPr id="90" name="Shape 82"/>
          <p:cNvSpPr/>
          <p:nvPr/>
        </p:nvSpPr>
        <p:spPr>
          <a:xfrm>
            <a:off x="7937893" y="3121170"/>
            <a:ext cx="1525247" cy="63399"/>
          </a:xfrm>
          <a:prstGeom prst="roundRect">
            <a:avLst>
              <a:gd name="adj" fmla="val 1542173"/>
            </a:avLst>
          </a:prstGeom>
          <a:solidFill>
            <a:srgbClr val="FF5B5B"/>
          </a:solidFill>
          <a:ln/>
        </p:spPr>
      </p:sp>
      <p:sp>
        <p:nvSpPr>
          <p:cNvPr id="91" name="Text 83"/>
          <p:cNvSpPr/>
          <p:nvPr/>
        </p:nvSpPr>
        <p:spPr>
          <a:xfrm>
            <a:off x="7937893" y="3224194"/>
            <a:ext cx="977722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3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530" dirty="0"/>
          </a:p>
        </p:txBody>
      </p:sp>
      <p:sp>
        <p:nvSpPr>
          <p:cNvPr id="92" name="Text 84"/>
          <p:cNvSpPr/>
          <p:nvPr/>
        </p:nvSpPr>
        <p:spPr>
          <a:xfrm>
            <a:off x="8896060" y="3224194"/>
            <a:ext cx="567079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3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$289</a:t>
            </a:r>
            <a:endParaRPr lang="en-US" sz="530" dirty="0"/>
          </a:p>
        </p:txBody>
      </p:sp>
      <p:sp>
        <p:nvSpPr>
          <p:cNvPr id="93" name="Shape 85"/>
          <p:cNvSpPr/>
          <p:nvPr/>
        </p:nvSpPr>
        <p:spPr>
          <a:xfrm>
            <a:off x="7937893" y="3350993"/>
            <a:ext cx="1525247" cy="63399"/>
          </a:xfrm>
          <a:prstGeom prst="roundRect">
            <a:avLst>
              <a:gd name="adj" fmla="val 1542173"/>
            </a:avLst>
          </a:prstGeom>
          <a:solidFill>
            <a:srgbClr val="E2E8F0"/>
          </a:solidFill>
          <a:ln/>
        </p:spPr>
      </p:sp>
      <p:sp>
        <p:nvSpPr>
          <p:cNvPr id="94" name="Shape 86"/>
          <p:cNvSpPr/>
          <p:nvPr/>
        </p:nvSpPr>
        <p:spPr>
          <a:xfrm>
            <a:off x="7937893" y="3350993"/>
            <a:ext cx="884643" cy="63399"/>
          </a:xfrm>
          <a:prstGeom prst="roundRect">
            <a:avLst>
              <a:gd name="adj" fmla="val 1542173"/>
            </a:avLst>
          </a:prstGeom>
          <a:solidFill>
            <a:srgbClr val="3B82F6"/>
          </a:solidFill>
          <a:ln/>
        </p:spPr>
      </p:sp>
      <p:sp>
        <p:nvSpPr>
          <p:cNvPr id="95" name="Text 87"/>
          <p:cNvSpPr/>
          <p:nvPr/>
        </p:nvSpPr>
        <p:spPr>
          <a:xfrm>
            <a:off x="7937893" y="3454017"/>
            <a:ext cx="977722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3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530" dirty="0"/>
          </a:p>
        </p:txBody>
      </p:sp>
      <p:sp>
        <p:nvSpPr>
          <p:cNvPr id="96" name="Text 88"/>
          <p:cNvSpPr/>
          <p:nvPr/>
        </p:nvSpPr>
        <p:spPr>
          <a:xfrm>
            <a:off x="8896060" y="3454017"/>
            <a:ext cx="567079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3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530" dirty="0"/>
          </a:p>
        </p:txBody>
      </p:sp>
      <p:sp>
        <p:nvSpPr>
          <p:cNvPr id="97" name="Shape 89"/>
          <p:cNvSpPr/>
          <p:nvPr/>
        </p:nvSpPr>
        <p:spPr>
          <a:xfrm>
            <a:off x="7937893" y="3580815"/>
            <a:ext cx="1525247" cy="63399"/>
          </a:xfrm>
          <a:prstGeom prst="roundRect">
            <a:avLst>
              <a:gd name="adj" fmla="val 1542173"/>
            </a:avLst>
          </a:prstGeom>
          <a:solidFill>
            <a:srgbClr val="E2E8F0"/>
          </a:solidFill>
          <a:ln/>
        </p:spPr>
      </p:sp>
      <p:sp>
        <p:nvSpPr>
          <p:cNvPr id="98" name="Shape 90"/>
          <p:cNvSpPr/>
          <p:nvPr/>
        </p:nvSpPr>
        <p:spPr>
          <a:xfrm>
            <a:off x="7937893" y="3580815"/>
            <a:ext cx="366059" cy="63399"/>
          </a:xfrm>
          <a:prstGeom prst="roundRect">
            <a:avLst>
              <a:gd name="adj" fmla="val 1542173"/>
            </a:avLst>
          </a:prstGeom>
          <a:solidFill>
            <a:srgbClr val="00C896"/>
          </a:solidFill>
          <a:ln/>
        </p:spPr>
      </p:sp>
      <p:sp>
        <p:nvSpPr>
          <p:cNvPr id="99" name="Text 91"/>
          <p:cNvSpPr/>
          <p:nvPr/>
        </p:nvSpPr>
        <p:spPr>
          <a:xfrm>
            <a:off x="7937893" y="3683839"/>
            <a:ext cx="977722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3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530" dirty="0"/>
          </a:p>
        </p:txBody>
      </p:sp>
      <p:sp>
        <p:nvSpPr>
          <p:cNvPr id="100" name="Text 92"/>
          <p:cNvSpPr/>
          <p:nvPr/>
        </p:nvSpPr>
        <p:spPr>
          <a:xfrm>
            <a:off x="8896060" y="3683839"/>
            <a:ext cx="567079" cy="1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3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530" dirty="0"/>
          </a:p>
        </p:txBody>
      </p:sp>
      <p:sp>
        <p:nvSpPr>
          <p:cNvPr id="101" name="Shape 93"/>
          <p:cNvSpPr/>
          <p:nvPr/>
        </p:nvSpPr>
        <p:spPr>
          <a:xfrm>
            <a:off x="7937893" y="3810638"/>
            <a:ext cx="1525247" cy="63399"/>
          </a:xfrm>
          <a:prstGeom prst="roundRect">
            <a:avLst>
              <a:gd name="adj" fmla="val 1542173"/>
            </a:avLst>
          </a:prstGeom>
          <a:solidFill>
            <a:srgbClr val="E2E8F0"/>
          </a:solidFill>
          <a:ln/>
        </p:spPr>
      </p:sp>
      <p:sp>
        <p:nvSpPr>
          <p:cNvPr id="102" name="Shape 94"/>
          <p:cNvSpPr/>
          <p:nvPr/>
        </p:nvSpPr>
        <p:spPr>
          <a:xfrm>
            <a:off x="7937893" y="3810638"/>
            <a:ext cx="244039" cy="63399"/>
          </a:xfrm>
          <a:prstGeom prst="roundRect">
            <a:avLst>
              <a:gd name="adj" fmla="val 1542173"/>
            </a:avLst>
          </a:prstGeom>
          <a:solidFill>
            <a:srgbClr val="F59E0B"/>
          </a:solidFill>
          <a:ln/>
        </p:spPr>
      </p:sp>
      <p:sp>
        <p:nvSpPr>
          <p:cNvPr id="103" name="Shape 95"/>
          <p:cNvSpPr/>
          <p:nvPr/>
        </p:nvSpPr>
        <p:spPr>
          <a:xfrm>
            <a:off x="7840120" y="3933474"/>
            <a:ext cx="821287" cy="534932"/>
          </a:xfrm>
          <a:prstGeom prst="roundRect">
            <a:avLst>
              <a:gd name="adj" fmla="val 36555"/>
            </a:avLst>
          </a:prstGeom>
          <a:solidFill>
            <a:srgbClr val="E6FBF5"/>
          </a:solidFill>
          <a:ln/>
        </p:spPr>
      </p:sp>
      <p:sp>
        <p:nvSpPr>
          <p:cNvPr id="104" name="Text 96"/>
          <p:cNvSpPr/>
          <p:nvPr/>
        </p:nvSpPr>
        <p:spPr>
          <a:xfrm>
            <a:off x="7937893" y="4004799"/>
            <a:ext cx="625742" cy="12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RATE</a:t>
            </a:r>
            <a:endParaRPr lang="en-US" sz="480" dirty="0"/>
          </a:p>
        </p:txBody>
      </p:sp>
      <p:sp>
        <p:nvSpPr>
          <p:cNvPr id="105" name="Text 97"/>
          <p:cNvSpPr/>
          <p:nvPr/>
        </p:nvSpPr>
        <p:spPr>
          <a:xfrm>
            <a:off x="7937893" y="4151410"/>
            <a:ext cx="625742" cy="237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0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1070" dirty="0"/>
          </a:p>
        </p:txBody>
      </p:sp>
      <p:sp>
        <p:nvSpPr>
          <p:cNvPr id="106" name="Shape 98"/>
          <p:cNvSpPr/>
          <p:nvPr/>
        </p:nvSpPr>
        <p:spPr>
          <a:xfrm>
            <a:off x="8720070" y="3933474"/>
            <a:ext cx="821287" cy="534932"/>
          </a:xfrm>
          <a:prstGeom prst="roundRect">
            <a:avLst>
              <a:gd name="adj" fmla="val 36555"/>
            </a:avLst>
          </a:prstGeom>
          <a:solidFill>
            <a:srgbClr val="EFF6FF"/>
          </a:solidFill>
          <a:ln/>
        </p:spPr>
      </p:sp>
      <p:sp>
        <p:nvSpPr>
          <p:cNvPr id="107" name="Text 99"/>
          <p:cNvSpPr/>
          <p:nvPr/>
        </p:nvSpPr>
        <p:spPr>
          <a:xfrm>
            <a:off x="8817843" y="4004799"/>
            <a:ext cx="625742" cy="12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DAILY SPEND</a:t>
            </a:r>
            <a:endParaRPr lang="en-US" sz="480" dirty="0"/>
          </a:p>
        </p:txBody>
      </p:sp>
      <p:sp>
        <p:nvSpPr>
          <p:cNvPr id="108" name="Text 100"/>
          <p:cNvSpPr/>
          <p:nvPr/>
        </p:nvSpPr>
        <p:spPr>
          <a:xfrm>
            <a:off x="8817843" y="4151410"/>
            <a:ext cx="625742" cy="237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$45.98</a:t>
            </a:r>
            <a:endParaRPr lang="en-US" sz="1070" dirty="0"/>
          </a:p>
        </p:txBody>
      </p:sp>
      <p:sp>
        <p:nvSpPr>
          <p:cNvPr id="109" name="Shape 101"/>
          <p:cNvSpPr/>
          <p:nvPr/>
        </p:nvSpPr>
        <p:spPr>
          <a:xfrm>
            <a:off x="7840120" y="4547656"/>
            <a:ext cx="821287" cy="534932"/>
          </a:xfrm>
          <a:prstGeom prst="roundRect">
            <a:avLst>
              <a:gd name="adj" fmla="val 36555"/>
            </a:avLst>
          </a:prstGeom>
          <a:solidFill>
            <a:srgbClr val="FFF0F0"/>
          </a:solidFill>
          <a:ln/>
        </p:spPr>
      </p:sp>
      <p:sp>
        <p:nvSpPr>
          <p:cNvPr id="110" name="Text 102"/>
          <p:cNvSpPr/>
          <p:nvPr/>
        </p:nvSpPr>
        <p:spPr>
          <a:xfrm>
            <a:off x="7937893" y="4618980"/>
            <a:ext cx="625742" cy="12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FF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BUDGET</a:t>
            </a:r>
            <a:endParaRPr lang="en-US" sz="480" dirty="0"/>
          </a:p>
        </p:txBody>
      </p:sp>
      <p:sp>
        <p:nvSpPr>
          <p:cNvPr id="111" name="Text 103"/>
          <p:cNvSpPr/>
          <p:nvPr/>
        </p:nvSpPr>
        <p:spPr>
          <a:xfrm>
            <a:off x="7937893" y="4765591"/>
            <a:ext cx="625742" cy="237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FF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Cat.</a:t>
            </a:r>
            <a:endParaRPr lang="en-US" sz="1070" dirty="0"/>
          </a:p>
        </p:txBody>
      </p:sp>
      <p:sp>
        <p:nvSpPr>
          <p:cNvPr id="112" name="Shape 104"/>
          <p:cNvSpPr/>
          <p:nvPr/>
        </p:nvSpPr>
        <p:spPr>
          <a:xfrm>
            <a:off x="8720070" y="4547656"/>
            <a:ext cx="821287" cy="534932"/>
          </a:xfrm>
          <a:prstGeom prst="roundRect">
            <a:avLst>
              <a:gd name="adj" fmla="val 36555"/>
            </a:avLst>
          </a:prstGeom>
          <a:solidFill>
            <a:srgbClr val="F5F3FF"/>
          </a:solidFill>
          <a:ln/>
        </p:spPr>
      </p:sp>
      <p:sp>
        <p:nvSpPr>
          <p:cNvPr id="113" name="Text 105"/>
          <p:cNvSpPr/>
          <p:nvPr/>
        </p:nvSpPr>
        <p:spPr>
          <a:xfrm>
            <a:off x="8817843" y="4618980"/>
            <a:ext cx="625742" cy="12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480" dirty="0"/>
          </a:p>
        </p:txBody>
      </p:sp>
      <p:sp>
        <p:nvSpPr>
          <p:cNvPr id="114" name="Text 106"/>
          <p:cNvSpPr/>
          <p:nvPr/>
        </p:nvSpPr>
        <p:spPr>
          <a:xfrm>
            <a:off x="8817843" y="4765591"/>
            <a:ext cx="625742" cy="237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70" dirty="0"/>
          </a:p>
        </p:txBody>
      </p:sp>
      <p:sp>
        <p:nvSpPr>
          <p:cNvPr id="115" name="Text 107"/>
          <p:cNvSpPr/>
          <p:nvPr/>
        </p:nvSpPr>
        <p:spPr>
          <a:xfrm>
            <a:off x="7488936" y="6172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116" name="Text 108"/>
          <p:cNvSpPr/>
          <p:nvPr/>
        </p:nvSpPr>
        <p:spPr>
          <a:xfrm>
            <a:off x="7488936" y="6464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spend and monthly KPIs</a:t>
            </a:r>
            <a:endParaRPr lang="en-US" sz="950" dirty="0"/>
          </a:p>
        </p:txBody>
      </p:sp>
      <p:sp>
        <p:nvSpPr>
          <p:cNvPr id="117" name="Text 10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ServiceNow platform layers, one scoped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38728" cy="77724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Portal + Mobile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59736"/>
            <a:ext cx="3538728" cy="3063240"/>
          </a:xfrm>
          <a:prstGeom prst="roundRect">
            <a:avLst>
              <a:gd name="adj" fmla="val 298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752344"/>
            <a:ext cx="82296" cy="82296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Widget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3227832"/>
            <a:ext cx="82296" cy="82296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312724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Form Widget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3703320"/>
            <a:ext cx="82296" cy="82296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6027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Tracker Widget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" y="4178808"/>
            <a:ext cx="82296" cy="82296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40782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Progress Widget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1248" y="4654296"/>
            <a:ext cx="82296" cy="82296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45537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5129784"/>
            <a:ext cx="82296" cy="82296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5029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Mobile App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52544" y="1645920"/>
            <a:ext cx="3538728" cy="777240"/>
          </a:xfrm>
          <a:prstGeom prst="roundRect">
            <a:avLst>
              <a:gd name="adj" fmla="val 11765"/>
            </a:avLst>
          </a:prstGeom>
          <a:solidFill>
            <a:srgbClr val="00A37A"/>
          </a:solidFill>
          <a:ln/>
        </p:spPr>
      </p:sp>
      <p:sp>
        <p:nvSpPr>
          <p:cNvPr id="21" name="Text 19"/>
          <p:cNvSpPr/>
          <p:nvPr/>
        </p:nvSpPr>
        <p:spPr>
          <a:xfrm>
            <a:off x="4535424" y="1737360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35424" y="199339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+ Flows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52544" y="2459736"/>
            <a:ext cx="3538728" cy="3063240"/>
          </a:xfrm>
          <a:prstGeom prst="roundRect">
            <a:avLst>
              <a:gd name="adj" fmla="val 298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2752344"/>
            <a:ext cx="82296" cy="82296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Rules (validate, balance, budget)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53712" y="3227832"/>
            <a:ext cx="82296" cy="82296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27" name="Text 25"/>
          <p:cNvSpPr/>
          <p:nvPr/>
        </p:nvSpPr>
        <p:spPr>
          <a:xfrm>
            <a:off x="4736592" y="312724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Client Scripts (date, filter, hints)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53712" y="3703320"/>
            <a:ext cx="82296" cy="82296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29" name="Text 27"/>
          <p:cNvSpPr/>
          <p:nvPr/>
        </p:nvSpPr>
        <p:spPr>
          <a:xfrm>
            <a:off x="4736592" y="36027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Script Includes (Budget, Auth)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53712" y="4178808"/>
            <a:ext cx="82296" cy="82296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40782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Flow Designer flows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53712" y="4654296"/>
            <a:ext cx="82296" cy="82296"/>
          </a:xfrm>
          <a:prstGeom prst="ellipse">
            <a:avLst/>
          </a:prstGeom>
          <a:solidFill>
            <a:srgbClr val="00A37A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45537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Scheduled job (weekly backup)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65008" y="1645920"/>
            <a:ext cx="3538728" cy="777240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8247888" y="1737360"/>
            <a:ext cx="3172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47888" y="199339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Tables + APIs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065008" y="2459736"/>
            <a:ext cx="3538728" cy="3063240"/>
          </a:xfrm>
          <a:prstGeom prst="roundRect">
            <a:avLst>
              <a:gd name="adj" fmla="val 298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66176" y="275234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8449056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 tables (x_pfmt_*)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66176" y="322783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8449056" y="312724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Scripted REST resources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266176" y="370332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8449056" y="36027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 API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66176" y="4178808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8449056" y="40782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row-level security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" y="5715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Automated Test Framework (ATF)  ·  Update Sets  ·  Platform Analytics KPIs  ·  Now Assist  ·  Notifications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blank PDI to live portal in five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0" cy="438912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25880" y="1645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Scoped App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→ new app, scope x_pfmt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25880" y="2258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587752"/>
            <a:ext cx="457200" cy="45720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044952"/>
            <a:ext cx="0" cy="438912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325880" y="25420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25880" y="28620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 tables + seed 13 categories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25880" y="3154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457200" cy="45720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3941064"/>
            <a:ext cx="0" cy="438912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325880" y="34381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Scripts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25880" y="37581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Rules, Client Scripts, Flows, REST API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25880" y="40507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4379976"/>
            <a:ext cx="457200" cy="45720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8680" y="4837176"/>
            <a:ext cx="0" cy="438912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325880" y="43342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Portal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25880" y="46542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Portal widget: HTML, CSS, controller, server script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25880" y="49469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5276088"/>
            <a:ext cx="457200" cy="45720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52303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Go Live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325880" y="5550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test, ATF suite, Update Set export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325880" y="58430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0D1117"/>
          </a:solidFill>
          <a:ln/>
        </p:spPr>
      </p:sp>
      <p:sp>
        <p:nvSpPr>
          <p:cNvPr id="34" name="Shape 32"/>
          <p:cNvSpPr/>
          <p:nvPr/>
        </p:nvSpPr>
        <p:spPr>
          <a:xfrm>
            <a:off x="6629400" y="20116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5" name="Image 0" descr="/sessions/friendly-peaceful-cerf/mnt/outputs/icons/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0723" y="2083003"/>
            <a:ext cx="405994" cy="40599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315200" y="2039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 REST API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31520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path: /api/x_pfmt/pfmt/v1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62940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412480" y="29260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register · logout — token-based session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629400" y="34564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/transactions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412480" y="345643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 — create &amp; list transactions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629400" y="39867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/accounts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412480" y="398678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balances and details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629400" y="45171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/budgets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412480" y="451713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periods, spend, and thresholds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629400" y="50474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412480" y="504748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goal progress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629400" y="5577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/profile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412480" y="55778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and preferences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financial-grade design system behind those screens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797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trust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27797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31720" y="3017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/ growth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2336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5B5B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27797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23360" y="3017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warning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1500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27797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15000" y="3017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threshold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0664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7797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06640" y="3017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accents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98280" y="19202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27797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98280" y="30175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Typography: display headings in a geometric sans, body copy in a humanist sans for scan-readability, and a monospace face for all amounts, dates, and codes.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PATTERNS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187952"/>
            <a:ext cx="2450592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27" name="Image 0" descr="/sessions/friendly-peaceful-cerf/mnt/outputs/icons/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4448556"/>
            <a:ext cx="338328" cy="33832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41248" y="4965192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hero cards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5248656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and goal-progress cards use the ink gradient for visual weight.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3273552" y="4187952"/>
            <a:ext cx="2450592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4389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2" name="Image 1" descr="/sessions/friendly-peaceful-cerf/mnt/outputs/icons/chart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6" y="4448556"/>
            <a:ext cx="338328" cy="33832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474720" y="4965192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Colored progress bars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3474720" y="5248656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 under budget, amber near threshold, coral over budget — at a glance.</a:t>
            </a:r>
            <a:endParaRPr lang="en-US" sz="880" dirty="0"/>
          </a:p>
        </p:txBody>
      </p:sp>
      <p:sp>
        <p:nvSpPr>
          <p:cNvPr id="35" name="Shape 31"/>
          <p:cNvSpPr/>
          <p:nvPr/>
        </p:nvSpPr>
        <p:spPr>
          <a:xfrm>
            <a:off x="5907024" y="4187952"/>
            <a:ext cx="2450592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108192" y="4389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7" name="Image 2" descr="/sessions/friendly-peaceful-cerf/mnt/outputs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628" y="4448556"/>
            <a:ext cx="338328" cy="33832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108192" y="4965192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 surface cards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6108192" y="5248656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surface cards with soft borders group related data consistently.</a:t>
            </a:r>
            <a:endParaRPr lang="en-US" sz="880" dirty="0"/>
          </a:p>
        </p:txBody>
      </p:sp>
      <p:sp>
        <p:nvSpPr>
          <p:cNvPr id="40" name="Shape 35"/>
          <p:cNvSpPr/>
          <p:nvPr/>
        </p:nvSpPr>
        <p:spPr>
          <a:xfrm>
            <a:off x="8540496" y="4187952"/>
            <a:ext cx="2450592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8741664" y="43891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2" name="Image 3" descr="/sessions/friendly-peaceful-cerf/mnt/outputs/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4448556"/>
            <a:ext cx="338328" cy="33832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8741664" y="4965192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 badges &amp; tags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8741664" y="5248656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chips and status pills use consistent rounded, colored tags.</a:t>
            </a:r>
            <a:endParaRPr lang="en-US" sz="880" dirty="0"/>
          </a:p>
        </p:txBody>
      </p:sp>
      <p:sp>
        <p:nvSpPr>
          <p:cNvPr id="45" name="Text 39"/>
          <p:cNvSpPr/>
          <p:nvPr/>
        </p:nvSpPr>
        <p:spPr>
          <a:xfrm>
            <a:off x="64008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ships as a native AngularJS Service Portal widget — the balance card, quick-add buttons, and recent-transactions list all render live from ServiceNow data.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sprints, six weeks, PDI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38728" cy="393192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4708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WEEKS 1–2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Scoped App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86968" y="3090672"/>
            <a:ext cx="64008" cy="6400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9718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app x_pfmt in Studio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6968" y="3547872"/>
            <a:ext cx="64008" cy="6400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4290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 tables + ACLs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6968" y="4005072"/>
            <a:ext cx="64008" cy="6400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8862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default categories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6968" y="4462272"/>
            <a:ext cx="64008" cy="6400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3434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Balance-update Business Rule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5010912"/>
            <a:ext cx="30815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10235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Working data layer on PDI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52544" y="1645920"/>
            <a:ext cx="3538728" cy="393192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81144" y="184708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581144" y="18470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WEEKS 3–4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81144" y="226771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&amp; Automation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81144" y="260604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+ Flow Designer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99432" y="3090672"/>
            <a:ext cx="64008" cy="640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764024" y="29718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 Portal pages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99432" y="3547872"/>
            <a:ext cx="64008" cy="640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764024" y="34290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budget widgets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99432" y="4005072"/>
            <a:ext cx="64008" cy="640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764024" y="38862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Scripts + Flow 1 &amp; 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99432" y="4462272"/>
            <a:ext cx="64008" cy="640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764024" y="43434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 notifications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81144" y="5010912"/>
            <a:ext cx="30815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81144" y="510235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Functional portal with real 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65008" y="1645920"/>
            <a:ext cx="3538728" cy="393192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93608" y="184708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8293608" y="18470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WEEKS 5–6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93608" y="226771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Polish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93608" y="260604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Goals &amp; Handover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311896" y="3090672"/>
            <a:ext cx="64008" cy="640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8476488" y="29718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Analytics KPIs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11896" y="3547872"/>
            <a:ext cx="64008" cy="640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8476488" y="34290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 (reset) &amp; Flow 3 (goals)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311896" y="4005072"/>
            <a:ext cx="64008" cy="640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8476488" y="38862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REST API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11896" y="4462272"/>
            <a:ext cx="64008" cy="640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8476488" y="4343400"/>
            <a:ext cx="2898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ATF suite + Update Set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93608" y="5010912"/>
            <a:ext cx="30815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93608" y="510235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Production-ready PFMT app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C233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00C89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89611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blueprint to production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code are complete. What's left is execution on the ServiceNow PDI.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8" name="Image 0" descr="/sessions/friendly-peaceful-cerf/mnt/outputs/icons/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214220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305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scoped app &amp; 6 tables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8760" y="244144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→ x_pfmt scope, seed 13 default categories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2990088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12" name="Image 1" descr="/sessions/friendly-peaceful-cerf/mnt/outputs/icons/c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40" y="3055468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9718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Business Rules &amp; Client Scripts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08760" y="328269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balance updates, budget calculations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2960" y="3831336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16" name="Image 2" descr="/sessions/friendly-peaceful-cerf/mnt/outputs/icons/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3896716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81304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Flow Designer automations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412394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 reset · daily recurring transactions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22960" y="4672584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20" name="Image 3" descr="/sessions/friendly-peaceful-cerf/mnt/outputs/icons/pl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4737964"/>
            <a:ext cx="372161" cy="3721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65429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the REST API &amp; Portal widget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508760" y="496519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/pfmt/v1 endpoints and the PFMT Dashboard widget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22960" y="5513832"/>
            <a:ext cx="502920" cy="502920"/>
          </a:xfrm>
          <a:prstGeom prst="ellipse">
            <a:avLst/>
          </a:prstGeom>
          <a:solidFill>
            <a:srgbClr val="00C896"/>
          </a:solidFill>
          <a:ln/>
        </p:spPr>
      </p:sp>
      <p:pic>
        <p:nvPicPr>
          <p:cNvPr id="24" name="Image 4" descr="/sessions/friendly-peaceful-cerf/mnt/outpu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5579212"/>
            <a:ext cx="372161" cy="37216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08760" y="549554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Test, export, and go live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508760" y="58064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ATF suite → Update Set export → live portal page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8138160" y="2148840"/>
            <a:ext cx="3291840" cy="3794760"/>
          </a:xfrm>
          <a:prstGeom prst="roundRect">
            <a:avLst>
              <a:gd name="adj" fmla="val 3333"/>
            </a:avLst>
          </a:prstGeom>
          <a:solidFill>
            <a:srgbClr val="1C2333"/>
          </a:solidFill>
          <a:ln/>
        </p:spPr>
      </p:sp>
      <p:sp>
        <p:nvSpPr>
          <p:cNvPr id="28" name="Text 21"/>
          <p:cNvSpPr/>
          <p:nvPr/>
        </p:nvSpPr>
        <p:spPr>
          <a:xfrm>
            <a:off x="8321040" y="2514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HRS</a:t>
            </a:r>
            <a:endParaRPr lang="en-US" sz="4000" dirty="0"/>
          </a:p>
        </p:txBody>
      </p:sp>
      <p:sp>
        <p:nvSpPr>
          <p:cNvPr id="29" name="Text 22"/>
          <p:cNvSpPr/>
          <p:nvPr/>
        </p:nvSpPr>
        <p:spPr>
          <a:xfrm>
            <a:off x="8366760" y="3291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focused PDI work across all five integration phases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366760" y="4114800"/>
            <a:ext cx="2834640" cy="0"/>
          </a:xfrm>
          <a:prstGeom prst="line">
            <a:avLst/>
          </a:prstGeom>
          <a:noFill/>
          <a:ln w="12700">
            <a:solidFill>
              <a:srgbClr val="39415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321040" y="4297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8321040" y="4773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9784080" y="4297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34" name="Text 27"/>
          <p:cNvSpPr/>
          <p:nvPr/>
        </p:nvSpPr>
        <p:spPr>
          <a:xfrm>
            <a:off x="9784080" y="4773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8321040" y="5212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36" name="Text 29"/>
          <p:cNvSpPr/>
          <p:nvPr/>
        </p:nvSpPr>
        <p:spPr>
          <a:xfrm>
            <a:off x="8321040" y="5687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9784080" y="5212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38" name="Text 31"/>
          <p:cNvSpPr/>
          <p:nvPr/>
        </p:nvSpPr>
        <p:spPr>
          <a:xfrm>
            <a:off x="9784080" y="5687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Pages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2026-08-10T02:18:27Z</dcterms:created>
  <dcterms:modified xsi:type="dcterms:W3CDTF">2026-08-10T02:18:27Z</dcterms:modified>
</cp:coreProperties>
</file>